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建议3分钟。请学生区分交付目标与处置权限。本页为自编练习框架，不归属于某个学者。下一页用资料整理任务检查三项是否清楚。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建议4分钟。修订前材料、问题与参考分析同时呈现，讨论节奏不够清楚；与修订后对比时不要将这种做法作为推荐。情境为本项目原创虚构练习。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建议2分钟。请学生用自己的任务各填一次交付物、权限和反馈安排。连线表示分类关系，不表示因果或固定先后顺序。知识回顾对应讲义三项，不能用未讲内容填充分支。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"/>
          <p:cNvSpPr/>
          <p:nvPr/>
        </p:nvSpPr>
        <p:spPr>
          <a:xfrm>
            <a:off x="419100" y="209550"/>
            <a:ext cx="8305800" cy="3619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315D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任务交接</a:t>
            </a:r>
            <a:endParaRPr lang="en-US" sz="2100" dirty="0"/>
          </a:p>
        </p:txBody>
      </p:sp>
      <p:sp>
        <p:nvSpPr>
          <p:cNvPr id="3" name="separator"/>
          <p:cNvSpPr/>
          <p:nvPr/>
        </p:nvSpPr>
        <p:spPr>
          <a:xfrm>
            <a:off x="419100" y="647700"/>
            <a:ext cx="8305800" cy="9525"/>
          </a:xfrm>
          <a:prstGeom prst="rect">
            <a:avLst/>
          </a:prstGeom>
          <a:solidFill>
            <a:srgbClr val="8A999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opic"/>
          <p:cNvSpPr/>
          <p:nvPr/>
        </p:nvSpPr>
        <p:spPr>
          <a:xfrm>
            <a:off x="419100" y="800100"/>
            <a:ext cx="8305800" cy="4000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结果、权限与反馈</a:t>
            </a:r>
            <a:endParaRPr lang="en-US" sz="1800" dirty="0"/>
          </a:p>
        </p:txBody>
      </p:sp>
      <p:sp>
        <p:nvSpPr>
          <p:cNvPr id="5" name="result"/>
          <p:cNvSpPr/>
          <p:nvPr/>
        </p:nvSpPr>
        <p:spPr>
          <a:xfrm>
            <a:off x="419100" y="1562100"/>
            <a:ext cx="123825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b="1" dirty="0">
                <a:solidFill>
                  <a:srgbClr val="16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1950" dirty="0"/>
          </a:p>
        </p:txBody>
      </p:sp>
      <p:sp>
        <p:nvSpPr>
          <p:cNvPr id="6" name="result-detail"/>
          <p:cNvSpPr/>
          <p:nvPr/>
        </p:nvSpPr>
        <p:spPr>
          <a:xfrm>
            <a:off x="1981200" y="1562100"/>
            <a:ext cx="6286500" cy="723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25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交付什么，何时完成？</a:t>
            </a:r>
            <a:endParaRPr lang="en-US" sz="1725" dirty="0"/>
          </a:p>
          <a:p>
            <a:pPr indent="0" marL="0">
              <a:buNone/>
            </a:pPr>
            <a:r>
              <a:rPr lang="en-US" sz="1725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把交付物和时间说清楚。</a:t>
            </a:r>
            <a:endParaRPr lang="en-US" sz="1725" dirty="0"/>
          </a:p>
        </p:txBody>
      </p:sp>
      <p:sp>
        <p:nvSpPr>
          <p:cNvPr id="7" name="authority"/>
          <p:cNvSpPr/>
          <p:nvPr/>
        </p:nvSpPr>
        <p:spPr>
          <a:xfrm>
            <a:off x="419100" y="2571750"/>
            <a:ext cx="123825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b="1" dirty="0">
                <a:solidFill>
                  <a:srgbClr val="16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</a:t>
            </a:r>
            <a:endParaRPr lang="en-US" sz="1950" dirty="0"/>
          </a:p>
        </p:txBody>
      </p:sp>
      <p:sp>
        <p:nvSpPr>
          <p:cNvPr id="8" name="authority-detail"/>
          <p:cNvSpPr/>
          <p:nvPr/>
        </p:nvSpPr>
        <p:spPr>
          <a:xfrm>
            <a:off x="1981200" y="2571750"/>
            <a:ext cx="6286500" cy="723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25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哪些可以自行处理？</a:t>
            </a:r>
            <a:endParaRPr lang="en-US" sz="1725" dirty="0"/>
          </a:p>
          <a:p>
            <a:pPr indent="0" marL="0">
              <a:buNone/>
            </a:pPr>
            <a:r>
              <a:rPr lang="en-US" sz="1725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哪些事项需要请示？</a:t>
            </a:r>
            <a:endParaRPr lang="en-US" sz="1725" dirty="0"/>
          </a:p>
        </p:txBody>
      </p:sp>
      <p:sp>
        <p:nvSpPr>
          <p:cNvPr id="9" name="feedback"/>
          <p:cNvSpPr/>
          <p:nvPr/>
        </p:nvSpPr>
        <p:spPr>
          <a:xfrm>
            <a:off x="419100" y="3581400"/>
            <a:ext cx="123825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b="1" dirty="0">
                <a:solidFill>
                  <a:srgbClr val="16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</a:t>
            </a:r>
            <a:endParaRPr lang="en-US" sz="1950" dirty="0"/>
          </a:p>
        </p:txBody>
      </p:sp>
      <p:sp>
        <p:nvSpPr>
          <p:cNvPr id="10" name="feedback-detail"/>
          <p:cNvSpPr/>
          <p:nvPr/>
        </p:nvSpPr>
        <p:spPr>
          <a:xfrm>
            <a:off x="1981200" y="3581400"/>
            <a:ext cx="6286500" cy="723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25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什么情况下反馈，向谁反馈？</a:t>
            </a:r>
            <a:endParaRPr lang="en-US" sz="1725" dirty="0"/>
          </a:p>
          <a:p>
            <a:pPr indent="0" marL="0">
              <a:buNone/>
            </a:pPr>
            <a:r>
              <a:rPr lang="en-US" sz="1725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遇到变化时及时确认。</a:t>
            </a:r>
            <a:endParaRPr lang="en-US" sz="17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"/>
          <p:cNvSpPr/>
          <p:nvPr/>
        </p:nvSpPr>
        <p:spPr>
          <a:xfrm>
            <a:off x="419100" y="209550"/>
            <a:ext cx="8305800" cy="3619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315D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任务交接</a:t>
            </a:r>
            <a:endParaRPr lang="en-US" sz="2100" dirty="0"/>
          </a:p>
        </p:txBody>
      </p:sp>
      <p:sp>
        <p:nvSpPr>
          <p:cNvPr id="3" name="separator"/>
          <p:cNvSpPr/>
          <p:nvPr/>
        </p:nvSpPr>
        <p:spPr>
          <a:xfrm>
            <a:off x="419100" y="647700"/>
            <a:ext cx="8305800" cy="9525"/>
          </a:xfrm>
          <a:prstGeom prst="rect">
            <a:avLst/>
          </a:prstGeom>
          <a:solidFill>
            <a:srgbClr val="8A999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opic"/>
          <p:cNvSpPr/>
          <p:nvPr/>
        </p:nvSpPr>
        <p:spPr>
          <a:xfrm>
            <a:off x="419100" y="800100"/>
            <a:ext cx="8305800" cy="4000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资料整理中的权限边界</a:t>
            </a:r>
            <a:endParaRPr lang="en-US" sz="1800" dirty="0"/>
          </a:p>
        </p:txBody>
      </p:sp>
      <p:sp>
        <p:nvSpPr>
          <p:cNvPr id="5" name="dense-material"/>
          <p:cNvSpPr/>
          <p:nvPr/>
        </p:nvSpPr>
        <p:spPr>
          <a:xfrm>
            <a:off x="419100" y="1619250"/>
            <a:ext cx="8305800" cy="2286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25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人请助教周五前提交分类目录。助教可以调整目录层级，但不能自行删除原始文件。整理中发现部分资料归属不清。请讨论哪些工作可以继续、哪些需要反馈。参考分析：继续登记已知资料，保留原件；记录归属问题，向负责人确认后再处理。</a:t>
            </a:r>
            <a:endParaRPr lang="en-US" sz="1725" dirty="0"/>
          </a:p>
        </p:txBody>
      </p:sp>
      <p:sp>
        <p:nvSpPr>
          <p:cNvPr id="6" name="source"/>
          <p:cNvSpPr/>
          <p:nvPr/>
        </p:nvSpPr>
        <p:spPr>
          <a:xfrm>
            <a:off x="419100" y="4552950"/>
            <a:ext cx="8305800" cy="285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869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教学情境（虚构）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ot-result"/>
          <p:cNvSpPr/>
          <p:nvPr/>
        </p:nvSpPr>
        <p:spPr>
          <a:xfrm flipV="1">
            <a:off x="2133600" y="1847850"/>
            <a:ext cx="990600" cy="1104900"/>
          </a:xfrm>
          <a:prstGeom prst="line">
            <a:avLst/>
          </a:prstGeom>
          <a:noFill/>
          <a:ln w="14288">
            <a:solidFill>
              <a:srgbClr val="819AA8"/>
            </a:solidFill>
            <a:prstDash val="solid"/>
          </a:ln>
        </p:spPr>
      </p:sp>
      <p:sp>
        <p:nvSpPr>
          <p:cNvPr id="3" name="root-authority"/>
          <p:cNvSpPr/>
          <p:nvPr/>
        </p:nvSpPr>
        <p:spPr>
          <a:xfrm flipV="1">
            <a:off x="2133600" y="2895600"/>
            <a:ext cx="990600" cy="57150"/>
          </a:xfrm>
          <a:prstGeom prst="line">
            <a:avLst/>
          </a:prstGeom>
          <a:noFill/>
          <a:ln w="14288">
            <a:solidFill>
              <a:srgbClr val="819AA8"/>
            </a:solidFill>
            <a:prstDash val="solid"/>
          </a:ln>
        </p:spPr>
      </p:sp>
      <p:sp>
        <p:nvSpPr>
          <p:cNvPr id="4" name="root-feedback"/>
          <p:cNvSpPr/>
          <p:nvPr/>
        </p:nvSpPr>
        <p:spPr>
          <a:xfrm>
            <a:off x="2133600" y="2952750"/>
            <a:ext cx="990600" cy="990600"/>
          </a:xfrm>
          <a:prstGeom prst="line">
            <a:avLst/>
          </a:prstGeom>
          <a:noFill/>
          <a:ln w="14288">
            <a:solidFill>
              <a:srgbClr val="819AA8"/>
            </a:solidFill>
            <a:prstDash val="solid"/>
          </a:ln>
        </p:spPr>
      </p:sp>
      <p:sp>
        <p:nvSpPr>
          <p:cNvPr id="5" name="leaf-result"/>
          <p:cNvSpPr/>
          <p:nvPr/>
        </p:nvSpPr>
        <p:spPr>
          <a:xfrm>
            <a:off x="4552950" y="1847850"/>
            <a:ext cx="1257300" cy="0"/>
          </a:xfrm>
          <a:prstGeom prst="line">
            <a:avLst/>
          </a:prstGeom>
          <a:noFill/>
          <a:ln w="14288">
            <a:solidFill>
              <a:srgbClr val="819AA8"/>
            </a:solidFill>
            <a:prstDash val="solid"/>
          </a:ln>
        </p:spPr>
      </p:sp>
      <p:sp>
        <p:nvSpPr>
          <p:cNvPr id="6" name="leaf-authority"/>
          <p:cNvSpPr/>
          <p:nvPr/>
        </p:nvSpPr>
        <p:spPr>
          <a:xfrm>
            <a:off x="4552950" y="2895600"/>
            <a:ext cx="1257300" cy="0"/>
          </a:xfrm>
          <a:prstGeom prst="line">
            <a:avLst/>
          </a:prstGeom>
          <a:noFill/>
          <a:ln w="14288">
            <a:solidFill>
              <a:srgbClr val="819AA8"/>
            </a:solidFill>
            <a:prstDash val="solid"/>
          </a:ln>
        </p:spPr>
      </p:sp>
      <p:sp>
        <p:nvSpPr>
          <p:cNvPr id="7" name="leaf-feedback"/>
          <p:cNvSpPr/>
          <p:nvPr/>
        </p:nvSpPr>
        <p:spPr>
          <a:xfrm>
            <a:off x="4552950" y="3943350"/>
            <a:ext cx="1257300" cy="0"/>
          </a:xfrm>
          <a:prstGeom prst="line">
            <a:avLst/>
          </a:prstGeom>
          <a:noFill/>
          <a:ln w="14288">
            <a:solidFill>
              <a:srgbClr val="819AA8"/>
            </a:solidFill>
            <a:prstDash val="solid"/>
          </a:ln>
        </p:spPr>
      </p:sp>
      <p:sp>
        <p:nvSpPr>
          <p:cNvPr id="8" name="section"/>
          <p:cNvSpPr/>
          <p:nvPr/>
        </p:nvSpPr>
        <p:spPr>
          <a:xfrm>
            <a:off x="419100" y="209550"/>
            <a:ext cx="8305800" cy="3619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315D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任务交接</a:t>
            </a:r>
            <a:endParaRPr lang="en-US" sz="2100" dirty="0"/>
          </a:p>
        </p:txBody>
      </p:sp>
      <p:sp>
        <p:nvSpPr>
          <p:cNvPr id="9" name="separator"/>
          <p:cNvSpPr/>
          <p:nvPr/>
        </p:nvSpPr>
        <p:spPr>
          <a:xfrm>
            <a:off x="419100" y="647700"/>
            <a:ext cx="8305800" cy="9525"/>
          </a:xfrm>
          <a:prstGeom prst="rect">
            <a:avLst/>
          </a:prstGeom>
          <a:solidFill>
            <a:srgbClr val="8A999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opic"/>
          <p:cNvSpPr/>
          <p:nvPr/>
        </p:nvSpPr>
        <p:spPr>
          <a:xfrm>
            <a:off x="419100" y="800100"/>
            <a:ext cx="8305800" cy="4000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知识回顾</a:t>
            </a:r>
            <a:endParaRPr lang="en-US" sz="1800" dirty="0"/>
          </a:p>
        </p:txBody>
      </p:sp>
      <p:sp>
        <p:nvSpPr>
          <p:cNvPr id="11" name="root"/>
          <p:cNvSpPr/>
          <p:nvPr/>
        </p:nvSpPr>
        <p:spPr>
          <a:xfrm>
            <a:off x="419100" y="2647950"/>
            <a:ext cx="1714500" cy="609600"/>
          </a:xfrm>
          <a:prstGeom prst="roundRect">
            <a:avLst/>
          </a:prstGeom>
          <a:solidFill>
            <a:srgbClr val="315D7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任务交接</a:t>
            </a:r>
            <a:endParaRPr lang="en-US" sz="1875" dirty="0"/>
          </a:p>
        </p:txBody>
      </p:sp>
      <p:sp>
        <p:nvSpPr>
          <p:cNvPr id="12" name="result"/>
          <p:cNvSpPr/>
          <p:nvPr/>
        </p:nvSpPr>
        <p:spPr>
          <a:xfrm>
            <a:off x="3124200" y="1619250"/>
            <a:ext cx="142875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1800" dirty="0"/>
          </a:p>
        </p:txBody>
      </p:sp>
      <p:sp>
        <p:nvSpPr>
          <p:cNvPr id="13" name="result-leaves"/>
          <p:cNvSpPr/>
          <p:nvPr/>
        </p:nvSpPr>
        <p:spPr>
          <a:xfrm>
            <a:off x="5810250" y="1457325"/>
            <a:ext cx="2571750" cy="7810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25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交付物</a:t>
            </a:r>
            <a:endParaRPr lang="en-US" sz="1725" dirty="0"/>
          </a:p>
          <a:p>
            <a:pPr indent="0" marL="0">
              <a:buNone/>
            </a:pPr>
            <a:r>
              <a:rPr lang="en-US" sz="1725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</a:t>
            </a:r>
            <a:endParaRPr lang="en-US" sz="1725" dirty="0"/>
          </a:p>
        </p:txBody>
      </p:sp>
      <p:sp>
        <p:nvSpPr>
          <p:cNvPr id="14" name="authority"/>
          <p:cNvSpPr/>
          <p:nvPr/>
        </p:nvSpPr>
        <p:spPr>
          <a:xfrm>
            <a:off x="3124200" y="2667000"/>
            <a:ext cx="142875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</a:t>
            </a:r>
            <a:endParaRPr lang="en-US" sz="1800" dirty="0"/>
          </a:p>
        </p:txBody>
      </p:sp>
      <p:sp>
        <p:nvSpPr>
          <p:cNvPr id="15" name="authority-leaves"/>
          <p:cNvSpPr/>
          <p:nvPr/>
        </p:nvSpPr>
        <p:spPr>
          <a:xfrm>
            <a:off x="5810250" y="2505075"/>
            <a:ext cx="2571750" cy="7810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25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可自行处理</a:t>
            </a:r>
            <a:endParaRPr lang="en-US" sz="1725" dirty="0"/>
          </a:p>
          <a:p>
            <a:pPr indent="0" marL="0">
              <a:buNone/>
            </a:pPr>
            <a:r>
              <a:rPr lang="en-US" sz="1725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须请示</a:t>
            </a:r>
            <a:endParaRPr lang="en-US" sz="1725" dirty="0"/>
          </a:p>
        </p:txBody>
      </p:sp>
      <p:sp>
        <p:nvSpPr>
          <p:cNvPr id="16" name="feedback"/>
          <p:cNvSpPr/>
          <p:nvPr/>
        </p:nvSpPr>
        <p:spPr>
          <a:xfrm>
            <a:off x="3124200" y="3714750"/>
            <a:ext cx="142875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</a:t>
            </a:r>
            <a:endParaRPr lang="en-US" sz="1800" dirty="0"/>
          </a:p>
        </p:txBody>
      </p:sp>
      <p:sp>
        <p:nvSpPr>
          <p:cNvPr id="17" name="feedback-leaves"/>
          <p:cNvSpPr/>
          <p:nvPr/>
        </p:nvSpPr>
        <p:spPr>
          <a:xfrm>
            <a:off x="5810250" y="3552825"/>
            <a:ext cx="2571750" cy="7810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25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触发条件</a:t>
            </a:r>
            <a:endParaRPr lang="en-US" sz="1725" dirty="0"/>
          </a:p>
          <a:p>
            <a:pPr indent="0" marL="0">
              <a:buNone/>
            </a:pPr>
            <a:r>
              <a:rPr lang="en-US" sz="1725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接收人</a:t>
            </a:r>
            <a:endParaRPr lang="en-US" sz="17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</dc:title>
  <dc:subject>Original teaching demonstration</dc:subject>
  <dc:creator>Lecture PPT Workflow contributors</dc:creator>
  <cp:lastModifiedBy>Lecture PPT Workflow contributors</cp:lastModifiedBy>
  <cp:revision>1</cp:revision>
  <dcterms:created xsi:type="dcterms:W3CDTF">2026-09-23T14:14:59Z</dcterms:created>
  <dcterms:modified xsi:type="dcterms:W3CDTF">2026-09-23T14:14:59Z</dcterms:modified>
</cp:coreProperties>
</file>