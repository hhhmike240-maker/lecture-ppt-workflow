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one minute. Open with a question: a manager asks HR to hire "someone capable". How can HR turn "capable" into something concrete? That leads into job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parts. This deck covers the first of two class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first, be clear about what job analysis actually analyzes.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three key ideas: systematic collection, the job, and job requirements. Common misconception: students often think job analysis evaluates how well an employee performs. Make clear that it studies the job, which is different from performance appraisal. Ask students to name two or three duties of a familiar job, such as a teaching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item, ask what happens without job analysis: vague hiring criteria, untargeted training, disputed appraisals, pay that people do not accept. Transition: so how is job analysis actually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job analysis is a process with clear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three minutes, one stage at a time. Point out that the purpose shapes the method: analysis for hiring focuses on job requirements, analysis for pay focuses on the value of the job. Completion is not the end; when the job changes, the documents must be updated. This links to the case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which methods collect the information in the investigation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four methods across each column, about four minutes. Ask: to analyze an assembly-line worker and a software engineer, which method would you choose first for each? Guide students to see that observation suits the first, while interviews and questionnaires suit the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the results of job analysis are written up in two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columns side by side. Common mistake: students put "good communication skills" under duties; explain that it belongs in the specification. Ask students to sort "prepares the monthly report" and "proficient in Excel" into the right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five minutes. Let students read the material, then discuss in small groups for two minutes. A likely answer is "the employee should follow the description"; follow up by asking who should update the description when the duties change. Click to reveal the suggested analysis and stress that job analysis needs ongoing maintenance.
[Click order] Click 1: show the suggested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answer each question first, then click to show the answer. For question 2, follow up: which other method could help? (The work diary.)
[Click order] Click 1: show the answer to question 1; Click 2: show the answer to question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one minute walking along the four branches with the class. Ask students: which kind of job suits each method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homework. Two submissions will be discussed in the next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A"/>
        </a:solidFill>
      </p:bgPr>
    </p:bg>
    <p:spTree>
      <p:nvGrpSpPr>
        <p:cNvPr id="1" name=""/>
        <p:cNvGrpSpPr/>
        <p:nvPr/>
      </p:nvGrpSpPr>
      <p:grpSpPr>
        <a:xfrm>
          <a:off x="0" y="0"/>
          <a:ext cx="0" cy="0"/>
          <a:chOff x="0" y="0"/>
          <a:chExt cx="0" cy="0"/>
        </a:xfrm>
      </p:grpSpPr>
      <p:sp>
        <p:nvSpPr>
          <p:cNvPr id="2" name="cover-bar"/>
          <p:cNvSpPr/>
          <p:nvPr/>
        </p:nvSpPr>
        <p:spPr>
          <a:xfrm>
            <a:off x="0" y="0"/>
            <a:ext cx="171450" cy="5143500"/>
          </a:xfrm>
          <a:prstGeom prst="rect">
            <a:avLst/>
          </a:prstGeom>
          <a:solidFill>
            <a:srgbClr val="2F5D7C"/>
          </a:solidFill>
          <a:ln w="12700">
            <a:solidFill>
              <a:srgbClr val="FFFFFF">
                <a:alpha val="0"/>
              </a:srgbClr>
            </a:solidFill>
            <a:prstDash val="solid"/>
          </a:ln>
        </p:spPr>
      </p:sp>
      <p:sp>
        <p:nvSpPr>
          <p:cNvPr id="3" name="title"/>
          <p:cNvSpPr/>
          <p:nvPr/>
        </p:nvSpPr>
        <p:spPr>
          <a:xfrm>
            <a:off x="876300" y="1653540"/>
            <a:ext cx="7810500" cy="502920"/>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3000" b="1" dirty="0">
                <a:solidFill>
                  <a:srgbClr val="2F5D7C"/>
                </a:solidFill>
                <a:latin typeface="Calibri" pitchFamily="34" charset="0"/>
                <a:ea typeface="Calibri" pitchFamily="34" charset="-122"/>
                <a:cs typeface="Calibri" pitchFamily="34" charset="-120"/>
              </a:rPr>
              <a:t>Chapter 3 Job Analysis</a:t>
            </a:r>
            <a:endParaRPr lang="en-US" sz="3000" dirty="0"/>
          </a:p>
        </p:txBody>
      </p:sp>
      <p:sp>
        <p:nvSpPr>
          <p:cNvPr id="4" name="title-accent"/>
          <p:cNvSpPr/>
          <p:nvPr/>
        </p:nvSpPr>
        <p:spPr>
          <a:xfrm>
            <a:off x="876300" y="2327910"/>
            <a:ext cx="914400" cy="38100"/>
          </a:xfrm>
          <a:prstGeom prst="rect">
            <a:avLst/>
          </a:prstGeom>
          <a:solidFill>
            <a:srgbClr val="167A85"/>
          </a:solidFill>
          <a:ln w="12700">
            <a:solidFill>
              <a:srgbClr val="FFFFFF">
                <a:alpha val="0"/>
              </a:srgbClr>
            </a:solidFill>
            <a:prstDash val="solid"/>
          </a:ln>
        </p:spPr>
      </p:sp>
      <p:sp>
        <p:nvSpPr>
          <p:cNvPr id="5" name="subtitle"/>
          <p:cNvSpPr/>
          <p:nvPr/>
        </p:nvSpPr>
        <p:spPr>
          <a:xfrm>
            <a:off x="876300" y="2537460"/>
            <a:ext cx="7810500" cy="301752"/>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800" dirty="0">
                <a:solidFill>
                  <a:srgbClr val="243746"/>
                </a:solidFill>
                <a:latin typeface="Calibri" pitchFamily="34" charset="0"/>
                <a:ea typeface="Calibri" pitchFamily="34" charset="-122"/>
                <a:cs typeface="Calibri" pitchFamily="34" charset="-120"/>
              </a:rPr>
              <a:t>Human Resource Management · Sample deck</a:t>
            </a:r>
            <a:endParaRPr lang="en-US" sz="1800" dirty="0"/>
          </a:p>
        </p:txBody>
      </p:sp>
      <p:sp>
        <p:nvSpPr>
          <p:cNvPr id="6" name="meta"/>
          <p:cNvSpPr/>
          <p:nvPr/>
        </p:nvSpPr>
        <p:spPr>
          <a:xfrm>
            <a:off x="876300" y="4000500"/>
            <a:ext cx="7810500" cy="28575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350" dirty="0">
                <a:solidFill>
                  <a:srgbClr val="5E6E78"/>
                </a:solidFill>
                <a:latin typeface="Calibri" pitchFamily="34" charset="0"/>
                <a:ea typeface="Calibri" pitchFamily="34" charset="-122"/>
                <a:cs typeface="Calibri" pitchFamily="34" charset="-120"/>
              </a:rPr>
              <a:t>Generated by lecture-ppt-workflow · Original teaching sample</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heading"/>
          <p:cNvSpPr/>
          <p:nvPr/>
        </p:nvSpPr>
        <p:spPr>
          <a:xfrm>
            <a:off x="457200" y="228600"/>
            <a:ext cx="8229600" cy="381000"/>
          </a:xfrm>
          <a:prstGeom prst="rect">
            <a:avLst/>
          </a:prstGeom>
          <a:solidFill>
            <a:srgbClr val="FFFFFF">
              <a:alpha val="0"/>
            </a:srgbClr>
          </a:solidFill>
          <a:ln>
            <a:solidFill>
              <a:srgbClr val="FFFFFF">
                <a:alpha val="0"/>
              </a:srgbClr>
            </a:solidFill>
          </a:ln>
        </p:spPr>
        <p:txBody>
          <a:bodyPr wrap="square" lIns="0" tIns="0" rIns="0" bIns="0" rtlCol="0" anchor="b"/>
          <a:lstStyle/>
          <a:p>
            <a:pPr algn="l" indent="0" marL="0">
              <a:buNone/>
            </a:pPr>
            <a:r>
              <a:rPr lang="en-US" sz="2100" b="1" dirty="0">
                <a:solidFill>
                  <a:srgbClr val="2F5D7C"/>
                </a:solidFill>
                <a:latin typeface="Calibri" pitchFamily="34" charset="0"/>
                <a:ea typeface="Calibri" pitchFamily="34" charset="-122"/>
                <a:cs typeface="Calibri" pitchFamily="34" charset="-120"/>
              </a:rPr>
              <a:t>Agenda</a:t>
            </a:r>
            <a:endParaRPr lang="en-US" sz="2100" dirty="0"/>
          </a:p>
        </p:txBody>
      </p:sp>
      <p:sp>
        <p:nvSpPr>
          <p:cNvPr id="3" name="title-rule"/>
          <p:cNvSpPr/>
          <p:nvPr/>
        </p:nvSpPr>
        <p:spPr>
          <a:xfrm>
            <a:off x="457200" y="685800"/>
            <a:ext cx="8229600" cy="14288"/>
          </a:xfrm>
          <a:prstGeom prst="rect">
            <a:avLst/>
          </a:prstGeom>
          <a:solidFill>
            <a:srgbClr val="A3B1B9"/>
          </a:solidFill>
          <a:ln w="12700">
            <a:solidFill>
              <a:srgbClr val="FFFFFF">
                <a:alpha val="0"/>
              </a:srgbClr>
            </a:solidFill>
            <a:prstDash val="solid"/>
          </a:ln>
        </p:spPr>
      </p:sp>
      <p:sp>
        <p:nvSpPr>
          <p:cNvPr id="4" name="item-1-number"/>
          <p:cNvSpPr/>
          <p:nvPr/>
        </p:nvSpPr>
        <p:spPr>
          <a:xfrm>
            <a:off x="647700" y="1228725"/>
            <a:ext cx="419100" cy="419100"/>
          </a:xfrm>
          <a:prstGeom prst="ellipse">
            <a:avLst/>
          </a:prstGeom>
          <a:solidFill>
            <a:srgbClr val="2F5D7C"/>
          </a:solidFill>
          <a:ln>
            <a:solidFill>
              <a:srgbClr val="FFFFFF">
                <a:alpha val="0"/>
              </a:srgbClr>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item-1"/>
          <p:cNvSpPr/>
          <p:nvPr/>
        </p:nvSpPr>
        <p:spPr>
          <a:xfrm>
            <a:off x="1257300" y="1190625"/>
            <a:ext cx="7239000" cy="49530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650" dirty="0">
                <a:solidFill>
                  <a:srgbClr val="243746"/>
                </a:solidFill>
                <a:latin typeface="Calibri" pitchFamily="34" charset="0"/>
                <a:ea typeface="Calibri" pitchFamily="34" charset="-122"/>
                <a:cs typeface="Calibri" pitchFamily="34" charset="-120"/>
              </a:rPr>
              <a:t>What job analysis is and why it matters</a:t>
            </a:r>
            <a:endParaRPr lang="en-US" sz="1650" dirty="0"/>
          </a:p>
        </p:txBody>
      </p:sp>
      <p:sp>
        <p:nvSpPr>
          <p:cNvPr id="6" name="item-2-number"/>
          <p:cNvSpPr/>
          <p:nvPr/>
        </p:nvSpPr>
        <p:spPr>
          <a:xfrm>
            <a:off x="647700" y="1895475"/>
            <a:ext cx="419100" cy="419100"/>
          </a:xfrm>
          <a:prstGeom prst="ellipse">
            <a:avLst/>
          </a:prstGeom>
          <a:solidFill>
            <a:srgbClr val="2F5D7C"/>
          </a:solidFill>
          <a:ln>
            <a:solidFill>
              <a:srgbClr val="FFFFFF">
                <a:alpha val="0"/>
              </a:srgbClr>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item-2"/>
          <p:cNvSpPr/>
          <p:nvPr/>
        </p:nvSpPr>
        <p:spPr>
          <a:xfrm>
            <a:off x="1257300" y="1857375"/>
            <a:ext cx="7239000" cy="49530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650" dirty="0">
                <a:solidFill>
                  <a:srgbClr val="243746"/>
                </a:solidFill>
                <a:latin typeface="Calibri" pitchFamily="34" charset="0"/>
                <a:ea typeface="Calibri" pitchFamily="34" charset="-122"/>
                <a:cs typeface="Calibri" pitchFamily="34" charset="-120"/>
              </a:rPr>
              <a:t>The job analysis process</a:t>
            </a:r>
            <a:endParaRPr lang="en-US" sz="1650" dirty="0"/>
          </a:p>
        </p:txBody>
      </p:sp>
      <p:sp>
        <p:nvSpPr>
          <p:cNvPr id="8" name="item-3-number"/>
          <p:cNvSpPr/>
          <p:nvPr/>
        </p:nvSpPr>
        <p:spPr>
          <a:xfrm>
            <a:off x="647700" y="2562225"/>
            <a:ext cx="419100" cy="419100"/>
          </a:xfrm>
          <a:prstGeom prst="ellipse">
            <a:avLst/>
          </a:prstGeom>
          <a:solidFill>
            <a:srgbClr val="2F5D7C"/>
          </a:solidFill>
          <a:ln>
            <a:solidFill>
              <a:srgbClr val="FFFFFF">
                <a:alpha val="0"/>
              </a:srgbClr>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item-3"/>
          <p:cNvSpPr/>
          <p:nvPr/>
        </p:nvSpPr>
        <p:spPr>
          <a:xfrm>
            <a:off x="1257300" y="2524125"/>
            <a:ext cx="7239000" cy="49530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650" dirty="0">
                <a:solidFill>
                  <a:srgbClr val="243746"/>
                </a:solidFill>
                <a:latin typeface="Calibri" pitchFamily="34" charset="0"/>
                <a:ea typeface="Calibri" pitchFamily="34" charset="-122"/>
                <a:cs typeface="Calibri" pitchFamily="34" charset="-120"/>
              </a:rPr>
              <a:t>Common methods</a:t>
            </a:r>
            <a:endParaRPr lang="en-US" sz="1650" dirty="0"/>
          </a:p>
        </p:txBody>
      </p:sp>
      <p:sp>
        <p:nvSpPr>
          <p:cNvPr id="10" name="item-4-number"/>
          <p:cNvSpPr/>
          <p:nvPr/>
        </p:nvSpPr>
        <p:spPr>
          <a:xfrm>
            <a:off x="647700" y="3228975"/>
            <a:ext cx="419100" cy="419100"/>
          </a:xfrm>
          <a:prstGeom prst="ellipse">
            <a:avLst/>
          </a:prstGeom>
          <a:solidFill>
            <a:srgbClr val="2F5D7C"/>
          </a:solidFill>
          <a:ln>
            <a:solidFill>
              <a:srgbClr val="FFFFFF">
                <a:alpha val="0"/>
              </a:srgbClr>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item-4"/>
          <p:cNvSpPr/>
          <p:nvPr/>
        </p:nvSpPr>
        <p:spPr>
          <a:xfrm>
            <a:off x="1257300" y="3190875"/>
            <a:ext cx="7239000" cy="49530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650" dirty="0">
                <a:solidFill>
                  <a:srgbClr val="243746"/>
                </a:solidFill>
                <a:latin typeface="Calibri" pitchFamily="34" charset="0"/>
                <a:ea typeface="Calibri" pitchFamily="34" charset="-122"/>
                <a:cs typeface="Calibri" pitchFamily="34" charset="-120"/>
              </a:rPr>
              <a:t>Job description and specification</a:t>
            </a:r>
            <a:endParaRPr lang="en-US" sz="1650" dirty="0"/>
          </a:p>
        </p:txBody>
      </p:sp>
      <p:sp>
        <p:nvSpPr>
          <p:cNvPr id="12" name="item-5-number"/>
          <p:cNvSpPr/>
          <p:nvPr/>
        </p:nvSpPr>
        <p:spPr>
          <a:xfrm>
            <a:off x="647700" y="3895725"/>
            <a:ext cx="419100" cy="419100"/>
          </a:xfrm>
          <a:prstGeom prst="ellipse">
            <a:avLst/>
          </a:prstGeom>
          <a:solidFill>
            <a:srgbClr val="2F5D7C"/>
          </a:solidFill>
          <a:ln>
            <a:solidFill>
              <a:srgbClr val="FFFFFF">
                <a:alpha val="0"/>
              </a:srgbClr>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item-5"/>
          <p:cNvSpPr/>
          <p:nvPr/>
        </p:nvSpPr>
        <p:spPr>
          <a:xfrm>
            <a:off x="1257300" y="3857625"/>
            <a:ext cx="7239000" cy="49530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650" dirty="0">
                <a:solidFill>
                  <a:srgbClr val="243746"/>
                </a:solidFill>
                <a:latin typeface="Calibri" pitchFamily="34" charset="0"/>
                <a:ea typeface="Calibri" pitchFamily="34" charset="-122"/>
                <a:cs typeface="Calibri" pitchFamily="34" charset="-120"/>
              </a:rPr>
              <a:t>Case discussion and quiz</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F5D7C"/>
        </a:solidFill>
      </p:bgPr>
    </p:bg>
    <p:spTree>
      <p:nvGrpSpPr>
        <p:cNvPr id="1" name=""/>
        <p:cNvGrpSpPr/>
        <p:nvPr/>
      </p:nvGrpSpPr>
      <p:grpSpPr>
        <a:xfrm>
          <a:off x="0" y="0"/>
          <a:ext cx="0" cy="0"/>
          <a:chOff x="0" y="0"/>
          <a:chExt cx="0" cy="0"/>
        </a:xfrm>
      </p:grpSpPr>
      <p:sp>
        <p:nvSpPr>
          <p:cNvPr id="2" name="number"/>
          <p:cNvSpPr/>
          <p:nvPr/>
        </p:nvSpPr>
        <p:spPr>
          <a:xfrm>
            <a:off x="876300" y="1916811"/>
            <a:ext cx="7810500" cy="762000"/>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4800" b="1" dirty="0">
                <a:solidFill>
                  <a:srgbClr val="BFD4DE"/>
                </a:solidFill>
                <a:latin typeface="Calibri" pitchFamily="34" charset="0"/>
                <a:ea typeface="Calibri" pitchFamily="34" charset="-122"/>
                <a:cs typeface="Calibri" pitchFamily="34" charset="-120"/>
              </a:rPr>
              <a:t>01</a:t>
            </a:r>
            <a:endParaRPr lang="en-US" sz="4800" dirty="0"/>
          </a:p>
        </p:txBody>
      </p:sp>
      <p:sp>
        <p:nvSpPr>
          <p:cNvPr id="3" name="title"/>
          <p:cNvSpPr/>
          <p:nvPr/>
        </p:nvSpPr>
        <p:spPr>
          <a:xfrm>
            <a:off x="876300" y="2774061"/>
            <a:ext cx="7810500" cy="452628"/>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2700" b="1" dirty="0">
                <a:solidFill>
                  <a:srgbClr val="FFFFFF"/>
                </a:solidFill>
                <a:latin typeface="Calibri" pitchFamily="34" charset="0"/>
                <a:ea typeface="Calibri" pitchFamily="34" charset="-122"/>
                <a:cs typeface="Calibri" pitchFamily="34" charset="-120"/>
              </a:rPr>
              <a:t>What job analysis is</a:t>
            </a:r>
            <a:endParaRPr lang="en-US" sz="2700" dirty="0"/>
          </a:p>
        </p:txBody>
      </p:sp>
      <p:sp>
        <p:nvSpPr>
          <p:cNvPr id="4" name="title-accent"/>
          <p:cNvSpPr/>
          <p:nvPr/>
        </p:nvSpPr>
        <p:spPr>
          <a:xfrm>
            <a:off x="876300" y="3360039"/>
            <a:ext cx="762000" cy="38100"/>
          </a:xfrm>
          <a:prstGeom prst="rect">
            <a:avLst/>
          </a:prstGeom>
          <a:solidFill>
            <a:srgbClr val="BFD4DE"/>
          </a:solidFill>
          <a:ln w="12700">
            <a:solidFill>
              <a:srgbClr val="FFFFFF">
                <a:alpha val="0"/>
              </a:srgbClr>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heading"/>
          <p:cNvSpPr/>
          <p:nvPr/>
        </p:nvSpPr>
        <p:spPr>
          <a:xfrm>
            <a:off x="457200" y="228600"/>
            <a:ext cx="8229600" cy="381000"/>
          </a:xfrm>
          <a:prstGeom prst="rect">
            <a:avLst/>
          </a:prstGeom>
          <a:solidFill>
            <a:srgbClr val="FFFFFF">
              <a:alpha val="0"/>
            </a:srgbClr>
          </a:solidFill>
          <a:ln>
            <a:solidFill>
              <a:srgbClr val="FFFFFF">
                <a:alpha val="0"/>
              </a:srgbClr>
            </a:solidFill>
          </a:ln>
        </p:spPr>
        <p:txBody>
          <a:bodyPr wrap="square" lIns="0" tIns="0" rIns="0" bIns="0" rtlCol="0" anchor="b"/>
          <a:lstStyle/>
          <a:p>
            <a:pPr algn="l" indent="0" marL="0">
              <a:buNone/>
            </a:pPr>
            <a:r>
              <a:rPr lang="en-US" sz="2100" b="1" dirty="0">
                <a:solidFill>
                  <a:srgbClr val="2F5D7C"/>
                </a:solidFill>
                <a:latin typeface="Calibri" pitchFamily="34" charset="0"/>
                <a:ea typeface="Calibri" pitchFamily="34" charset="-122"/>
                <a:cs typeface="Calibri" pitchFamily="34" charset="-120"/>
              </a:rPr>
              <a:t>01 What job analysis is</a:t>
            </a:r>
            <a:endParaRPr lang="en-US" sz="2100" dirty="0"/>
          </a:p>
        </p:txBody>
      </p:sp>
      <p:sp>
        <p:nvSpPr>
          <p:cNvPr id="3" name="title-rule"/>
          <p:cNvSpPr/>
          <p:nvPr/>
        </p:nvSpPr>
        <p:spPr>
          <a:xfrm>
            <a:off x="457200" y="685800"/>
            <a:ext cx="8229600" cy="14288"/>
          </a:xfrm>
          <a:prstGeom prst="rect">
            <a:avLst/>
          </a:prstGeom>
          <a:solidFill>
            <a:srgbClr val="A3B1B9"/>
          </a:solidFill>
          <a:ln w="12700">
            <a:solidFill>
              <a:srgbClr val="FFFFFF">
                <a:alpha val="0"/>
              </a:srgbClr>
            </a:solidFill>
            <a:prstDash val="solid"/>
          </a:ln>
        </p:spPr>
      </p:sp>
      <p:sp>
        <p:nvSpPr>
          <p:cNvPr id="4" name="topic"/>
          <p:cNvSpPr/>
          <p:nvPr/>
        </p:nvSpPr>
        <p:spPr>
          <a:xfrm>
            <a:off x="457200" y="800100"/>
            <a:ext cx="8229600" cy="34290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650" b="1" dirty="0">
                <a:solidFill>
                  <a:srgbClr val="243746"/>
                </a:solidFill>
                <a:latin typeface="Calibri" pitchFamily="34" charset="0"/>
                <a:ea typeface="Calibri" pitchFamily="34" charset="-122"/>
                <a:cs typeface="Calibri" pitchFamily="34" charset="-120"/>
              </a:rPr>
              <a:t>Defining job analysis</a:t>
            </a:r>
            <a:endParaRPr lang="en-US" sz="1650" dirty="0"/>
          </a:p>
        </p:txBody>
      </p:sp>
      <p:sp>
        <p:nvSpPr>
          <p:cNvPr id="5" name="definition-card"/>
          <p:cNvSpPr/>
          <p:nvPr/>
        </p:nvSpPr>
        <p:spPr>
          <a:xfrm>
            <a:off x="457200" y="1371600"/>
            <a:ext cx="8229600" cy="1293114"/>
          </a:xfrm>
          <a:prstGeom prst="rect">
            <a:avLst/>
          </a:prstGeom>
          <a:solidFill>
            <a:srgbClr val="FFFFFF"/>
          </a:solidFill>
          <a:ln w="9525">
            <a:solidFill>
              <a:srgbClr val="D3DDE2"/>
            </a:solidFill>
            <a:prstDash val="solid"/>
          </a:ln>
        </p:spPr>
      </p:sp>
      <p:sp>
        <p:nvSpPr>
          <p:cNvPr id="6" name="definition-bar"/>
          <p:cNvSpPr/>
          <p:nvPr/>
        </p:nvSpPr>
        <p:spPr>
          <a:xfrm>
            <a:off x="457200" y="1371600"/>
            <a:ext cx="57150" cy="1293114"/>
          </a:xfrm>
          <a:prstGeom prst="rect">
            <a:avLst/>
          </a:prstGeom>
          <a:solidFill>
            <a:srgbClr val="167A85"/>
          </a:solidFill>
          <a:ln w="12700">
            <a:solidFill>
              <a:srgbClr val="FFFFFF">
                <a:alpha val="0"/>
              </a:srgbClr>
            </a:solidFill>
            <a:prstDash val="solid"/>
          </a:ln>
        </p:spPr>
      </p:sp>
      <p:sp>
        <p:nvSpPr>
          <p:cNvPr id="7" name="term"/>
          <p:cNvSpPr/>
          <p:nvPr/>
        </p:nvSpPr>
        <p:spPr>
          <a:xfrm>
            <a:off x="704850" y="1543050"/>
            <a:ext cx="7810500" cy="301752"/>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800" b="1" dirty="0">
                <a:solidFill>
                  <a:srgbClr val="167A85"/>
                </a:solidFill>
                <a:latin typeface="Calibri" pitchFamily="34" charset="0"/>
                <a:ea typeface="Calibri" pitchFamily="34" charset="-122"/>
                <a:cs typeface="Calibri" pitchFamily="34" charset="-120"/>
              </a:rPr>
              <a:t>Job analysis</a:t>
            </a:r>
            <a:endParaRPr lang="en-US" sz="1800" dirty="0"/>
          </a:p>
        </p:txBody>
      </p:sp>
      <p:sp>
        <p:nvSpPr>
          <p:cNvPr id="8" name="definition"/>
          <p:cNvSpPr/>
          <p:nvPr/>
        </p:nvSpPr>
        <p:spPr>
          <a:xfrm>
            <a:off x="704850" y="1940052"/>
            <a:ext cx="7810500" cy="553212"/>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650" dirty="0">
                <a:solidFill>
                  <a:srgbClr val="243746"/>
                </a:solidFill>
                <a:latin typeface="Calibri" pitchFamily="34" charset="0"/>
                <a:ea typeface="Calibri" pitchFamily="34" charset="-122"/>
                <a:cs typeface="Calibri" pitchFamily="34" charset="-120"/>
              </a:rPr>
              <a:t>Systematically collecting information about a job to define its duties, working conditions and the knowledge, skills and abilities it requires.</a:t>
            </a:r>
            <a:endParaRPr lang="en-US" sz="1650" dirty="0"/>
          </a:p>
        </p:txBody>
      </p:sp>
      <p:sp>
        <p:nvSpPr>
          <p:cNvPr id="9" name="card-1"/>
          <p:cNvSpPr/>
          <p:nvPr/>
        </p:nvSpPr>
        <p:spPr>
          <a:xfrm>
            <a:off x="457200" y="2874264"/>
            <a:ext cx="2616232" cy="1132713"/>
          </a:xfrm>
          <a:prstGeom prst="rect">
            <a:avLst/>
          </a:prstGeom>
          <a:solidFill>
            <a:srgbClr val="FFFFFF"/>
          </a:solidFill>
          <a:ln w="9525">
            <a:solidFill>
              <a:srgbClr val="D3DDE2"/>
            </a:solidFill>
            <a:prstDash val="solid"/>
          </a:ln>
        </p:spPr>
      </p:sp>
      <p:sp>
        <p:nvSpPr>
          <p:cNvPr id="10" name="card-1-bar"/>
          <p:cNvSpPr/>
          <p:nvPr/>
        </p:nvSpPr>
        <p:spPr>
          <a:xfrm>
            <a:off x="457200" y="2874264"/>
            <a:ext cx="2616232" cy="47625"/>
          </a:xfrm>
          <a:prstGeom prst="rect">
            <a:avLst/>
          </a:prstGeom>
          <a:solidFill>
            <a:srgbClr val="167A85"/>
          </a:solidFill>
          <a:ln w="12700">
            <a:solidFill>
              <a:srgbClr val="FFFFFF">
                <a:alpha val="0"/>
              </a:srgbClr>
            </a:solidFill>
            <a:prstDash val="solid"/>
          </a:ln>
        </p:spPr>
      </p:sp>
      <p:sp>
        <p:nvSpPr>
          <p:cNvPr id="11" name="card-1-title"/>
          <p:cNvSpPr/>
          <p:nvPr/>
        </p:nvSpPr>
        <p:spPr>
          <a:xfrm>
            <a:off x="609600" y="3074289"/>
            <a:ext cx="2311432" cy="251460"/>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500" b="1" dirty="0">
                <a:solidFill>
                  <a:srgbClr val="167A85"/>
                </a:solidFill>
                <a:latin typeface="Calibri" pitchFamily="34" charset="0"/>
                <a:ea typeface="Calibri" pitchFamily="34" charset="-122"/>
                <a:cs typeface="Calibri" pitchFamily="34" charset="-120"/>
              </a:rPr>
              <a:t>Object</a:t>
            </a:r>
            <a:endParaRPr lang="en-US" sz="1500" dirty="0"/>
          </a:p>
        </p:txBody>
      </p:sp>
      <p:sp>
        <p:nvSpPr>
          <p:cNvPr id="12" name="card-1-text"/>
          <p:cNvSpPr/>
          <p:nvPr/>
        </p:nvSpPr>
        <p:spPr>
          <a:xfrm>
            <a:off x="609600" y="3401949"/>
            <a:ext cx="2311432" cy="452628"/>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350" dirty="0">
                <a:solidFill>
                  <a:srgbClr val="243746"/>
                </a:solidFill>
                <a:latin typeface="Calibri" pitchFamily="34" charset="0"/>
                <a:ea typeface="Calibri" pitchFamily="34" charset="-122"/>
                <a:cs typeface="Calibri" pitchFamily="34" charset="-120"/>
              </a:rPr>
              <a:t>the job itself, not an employee</a:t>
            </a:r>
            <a:endParaRPr lang="en-US" sz="1350" dirty="0"/>
          </a:p>
        </p:txBody>
      </p:sp>
      <p:sp>
        <p:nvSpPr>
          <p:cNvPr id="13" name="card-2"/>
          <p:cNvSpPr/>
          <p:nvPr/>
        </p:nvSpPr>
        <p:spPr>
          <a:xfrm>
            <a:off x="3263932" y="2874264"/>
            <a:ext cx="2616232" cy="1132713"/>
          </a:xfrm>
          <a:prstGeom prst="rect">
            <a:avLst/>
          </a:prstGeom>
          <a:solidFill>
            <a:srgbClr val="FFFFFF"/>
          </a:solidFill>
          <a:ln w="9525">
            <a:solidFill>
              <a:srgbClr val="D3DDE2"/>
            </a:solidFill>
            <a:prstDash val="solid"/>
          </a:ln>
        </p:spPr>
      </p:sp>
      <p:sp>
        <p:nvSpPr>
          <p:cNvPr id="14" name="card-2-bar"/>
          <p:cNvSpPr/>
          <p:nvPr/>
        </p:nvSpPr>
        <p:spPr>
          <a:xfrm>
            <a:off x="3263932" y="2874264"/>
            <a:ext cx="2616232" cy="47625"/>
          </a:xfrm>
          <a:prstGeom prst="rect">
            <a:avLst/>
          </a:prstGeom>
          <a:solidFill>
            <a:srgbClr val="167A85"/>
          </a:solidFill>
          <a:ln w="12700">
            <a:solidFill>
              <a:srgbClr val="FFFFFF">
                <a:alpha val="0"/>
              </a:srgbClr>
            </a:solidFill>
            <a:prstDash val="solid"/>
          </a:ln>
        </p:spPr>
      </p:sp>
      <p:sp>
        <p:nvSpPr>
          <p:cNvPr id="15" name="card-2-title"/>
          <p:cNvSpPr/>
          <p:nvPr/>
        </p:nvSpPr>
        <p:spPr>
          <a:xfrm>
            <a:off x="3416332" y="3074289"/>
            <a:ext cx="2311432" cy="251460"/>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500" b="1" dirty="0">
                <a:solidFill>
                  <a:srgbClr val="167A85"/>
                </a:solidFill>
                <a:latin typeface="Calibri" pitchFamily="34" charset="0"/>
                <a:ea typeface="Calibri" pitchFamily="34" charset="-122"/>
                <a:cs typeface="Calibri" pitchFamily="34" charset="-120"/>
              </a:rPr>
              <a:t>Output</a:t>
            </a:r>
            <a:endParaRPr lang="en-US" sz="1500" dirty="0"/>
          </a:p>
        </p:txBody>
      </p:sp>
      <p:sp>
        <p:nvSpPr>
          <p:cNvPr id="16" name="card-2-text"/>
          <p:cNvSpPr/>
          <p:nvPr/>
        </p:nvSpPr>
        <p:spPr>
          <a:xfrm>
            <a:off x="3416332" y="3401949"/>
            <a:ext cx="2311432" cy="452628"/>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350" dirty="0">
                <a:solidFill>
                  <a:srgbClr val="243746"/>
                </a:solidFill>
                <a:latin typeface="Calibri" pitchFamily="34" charset="0"/>
                <a:ea typeface="Calibri" pitchFamily="34" charset="-122"/>
                <a:cs typeface="Calibri" pitchFamily="34" charset="-120"/>
              </a:rPr>
              <a:t>job description and specification</a:t>
            </a:r>
            <a:endParaRPr lang="en-US" sz="1350" dirty="0"/>
          </a:p>
        </p:txBody>
      </p:sp>
      <p:sp>
        <p:nvSpPr>
          <p:cNvPr id="17" name="card-3"/>
          <p:cNvSpPr/>
          <p:nvPr/>
        </p:nvSpPr>
        <p:spPr>
          <a:xfrm>
            <a:off x="6070568" y="2874264"/>
            <a:ext cx="2616232" cy="1132713"/>
          </a:xfrm>
          <a:prstGeom prst="rect">
            <a:avLst/>
          </a:prstGeom>
          <a:solidFill>
            <a:srgbClr val="FFFFFF"/>
          </a:solidFill>
          <a:ln w="9525">
            <a:solidFill>
              <a:srgbClr val="D3DDE2"/>
            </a:solidFill>
            <a:prstDash val="solid"/>
          </a:ln>
        </p:spPr>
      </p:sp>
      <p:sp>
        <p:nvSpPr>
          <p:cNvPr id="18" name="card-3-bar"/>
          <p:cNvSpPr/>
          <p:nvPr/>
        </p:nvSpPr>
        <p:spPr>
          <a:xfrm>
            <a:off x="6070568" y="2874264"/>
            <a:ext cx="2616232" cy="47625"/>
          </a:xfrm>
          <a:prstGeom prst="rect">
            <a:avLst/>
          </a:prstGeom>
          <a:solidFill>
            <a:srgbClr val="167A85"/>
          </a:solidFill>
          <a:ln w="12700">
            <a:solidFill>
              <a:srgbClr val="FFFFFF">
                <a:alpha val="0"/>
              </a:srgbClr>
            </a:solidFill>
            <a:prstDash val="solid"/>
          </a:ln>
        </p:spPr>
      </p:sp>
      <p:sp>
        <p:nvSpPr>
          <p:cNvPr id="19" name="card-3-title"/>
          <p:cNvSpPr/>
          <p:nvPr/>
        </p:nvSpPr>
        <p:spPr>
          <a:xfrm>
            <a:off x="6222968" y="3074289"/>
            <a:ext cx="2311432" cy="251460"/>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500" b="1" dirty="0">
                <a:solidFill>
                  <a:srgbClr val="167A85"/>
                </a:solidFill>
                <a:latin typeface="Calibri" pitchFamily="34" charset="0"/>
                <a:ea typeface="Calibri" pitchFamily="34" charset="-122"/>
                <a:cs typeface="Calibri" pitchFamily="34" charset="-120"/>
              </a:rPr>
              <a:t>Role</a:t>
            </a:r>
            <a:endParaRPr lang="en-US" sz="1500" dirty="0"/>
          </a:p>
        </p:txBody>
      </p:sp>
      <p:sp>
        <p:nvSpPr>
          <p:cNvPr id="20" name="card-3-text"/>
          <p:cNvSpPr/>
          <p:nvPr/>
        </p:nvSpPr>
        <p:spPr>
          <a:xfrm>
            <a:off x="6222968" y="3401949"/>
            <a:ext cx="2311432" cy="452628"/>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350" dirty="0">
                <a:solidFill>
                  <a:srgbClr val="243746"/>
                </a:solidFill>
                <a:latin typeface="Calibri" pitchFamily="34" charset="0"/>
                <a:ea typeface="Calibri" pitchFamily="34" charset="-122"/>
                <a:cs typeface="Calibri" pitchFamily="34" charset="-120"/>
              </a:rPr>
              <a:t>the foundation of many HR activities</a:t>
            </a:r>
            <a:endParaRPr lang="en-US" sz="1350" dirty="0"/>
          </a:p>
        </p:txBody>
      </p:sp>
      <p:sp>
        <p:nvSpPr>
          <p:cNvPr id="21" name="page-number"/>
          <p:cNvSpPr/>
          <p:nvPr/>
        </p:nvSpPr>
        <p:spPr>
          <a:xfrm>
            <a:off x="8115300" y="4629150"/>
            <a:ext cx="571500" cy="209550"/>
          </a:xfrm>
          <a:prstGeom prst="rect">
            <a:avLst/>
          </a:prstGeom>
          <a:solidFill>
            <a:srgbClr val="FFFFFF">
              <a:alpha val="0"/>
            </a:srgbClr>
          </a:solidFill>
          <a:ln>
            <a:solidFill>
              <a:srgbClr val="FFFFFF">
                <a:alpha val="0"/>
              </a:srgbClr>
            </a:solidFill>
          </a:ln>
        </p:spPr>
        <p:txBody>
          <a:bodyPr wrap="square" lIns="0" tIns="0" rIns="0" bIns="0" rtlCol="0" anchor="ctr"/>
          <a:lstStyle/>
          <a:p>
            <a:pPr algn="r" indent="0" marL="0">
              <a:buNone/>
            </a:pPr>
            <a:r>
              <a:rPr lang="en-US" sz="1050" dirty="0">
                <a:solidFill>
                  <a:srgbClr val="5E6E78"/>
                </a:solidFill>
                <a:latin typeface="Calibri" pitchFamily="34" charset="0"/>
                <a:ea typeface="Calibri" pitchFamily="34" charset="-122"/>
                <a:cs typeface="Calibri" pitchFamily="34" charset="-120"/>
              </a:rPr>
              <a:t>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heading"/>
          <p:cNvSpPr/>
          <p:nvPr/>
        </p:nvSpPr>
        <p:spPr>
          <a:xfrm>
            <a:off x="457200" y="228600"/>
            <a:ext cx="8229600" cy="381000"/>
          </a:xfrm>
          <a:prstGeom prst="rect">
            <a:avLst/>
          </a:prstGeom>
          <a:solidFill>
            <a:srgbClr val="FFFFFF">
              <a:alpha val="0"/>
            </a:srgbClr>
          </a:solidFill>
          <a:ln>
            <a:solidFill>
              <a:srgbClr val="FFFFFF">
                <a:alpha val="0"/>
              </a:srgbClr>
            </a:solidFill>
          </a:ln>
        </p:spPr>
        <p:txBody>
          <a:bodyPr wrap="square" lIns="0" tIns="0" rIns="0" bIns="0" rtlCol="0" anchor="b"/>
          <a:lstStyle/>
          <a:p>
            <a:pPr algn="l" indent="0" marL="0">
              <a:buNone/>
            </a:pPr>
            <a:r>
              <a:rPr lang="en-US" sz="2100" b="1" dirty="0">
                <a:solidFill>
                  <a:srgbClr val="2F5D7C"/>
                </a:solidFill>
                <a:latin typeface="Calibri" pitchFamily="34" charset="0"/>
                <a:ea typeface="Calibri" pitchFamily="34" charset="-122"/>
                <a:cs typeface="Calibri" pitchFamily="34" charset="-120"/>
              </a:rPr>
              <a:t>01 What job analysis is</a:t>
            </a:r>
            <a:endParaRPr lang="en-US" sz="2100" dirty="0"/>
          </a:p>
        </p:txBody>
      </p:sp>
      <p:sp>
        <p:nvSpPr>
          <p:cNvPr id="3" name="title-rule"/>
          <p:cNvSpPr/>
          <p:nvPr/>
        </p:nvSpPr>
        <p:spPr>
          <a:xfrm>
            <a:off x="457200" y="685800"/>
            <a:ext cx="8229600" cy="14288"/>
          </a:xfrm>
          <a:prstGeom prst="rect">
            <a:avLst/>
          </a:prstGeom>
          <a:solidFill>
            <a:srgbClr val="A3B1B9"/>
          </a:solidFill>
          <a:ln w="12700">
            <a:solidFill>
              <a:srgbClr val="FFFFFF">
                <a:alpha val="0"/>
              </a:srgbClr>
            </a:solidFill>
            <a:prstDash val="solid"/>
          </a:ln>
        </p:spPr>
      </p:sp>
      <p:sp>
        <p:nvSpPr>
          <p:cNvPr id="4" name="topic"/>
          <p:cNvSpPr/>
          <p:nvPr/>
        </p:nvSpPr>
        <p:spPr>
          <a:xfrm>
            <a:off x="457200" y="800100"/>
            <a:ext cx="8229600" cy="34290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650" b="1" dirty="0">
                <a:solidFill>
                  <a:srgbClr val="243746"/>
                </a:solidFill>
                <a:latin typeface="Calibri" pitchFamily="34" charset="0"/>
                <a:ea typeface="Calibri" pitchFamily="34" charset="-122"/>
                <a:cs typeface="Calibri" pitchFamily="34" charset="-120"/>
              </a:rPr>
              <a:t>Why job analysis matters</a:t>
            </a:r>
            <a:endParaRPr lang="en-US" sz="1650" dirty="0"/>
          </a:p>
        </p:txBody>
      </p:sp>
      <p:sp>
        <p:nvSpPr>
          <p:cNvPr id="5" name="card-1"/>
          <p:cNvSpPr/>
          <p:nvPr/>
        </p:nvSpPr>
        <p:spPr>
          <a:xfrm>
            <a:off x="457200" y="1696974"/>
            <a:ext cx="1914525" cy="1428750"/>
          </a:xfrm>
          <a:prstGeom prst="rect">
            <a:avLst/>
          </a:prstGeom>
          <a:solidFill>
            <a:srgbClr val="FFFFFF"/>
          </a:solidFill>
          <a:ln w="9525">
            <a:solidFill>
              <a:srgbClr val="D3DDE2"/>
            </a:solidFill>
            <a:prstDash val="solid"/>
          </a:ln>
        </p:spPr>
      </p:sp>
      <p:sp>
        <p:nvSpPr>
          <p:cNvPr id="6" name="card-1-bar"/>
          <p:cNvSpPr/>
          <p:nvPr/>
        </p:nvSpPr>
        <p:spPr>
          <a:xfrm>
            <a:off x="457200" y="1696974"/>
            <a:ext cx="1914525" cy="47625"/>
          </a:xfrm>
          <a:prstGeom prst="rect">
            <a:avLst/>
          </a:prstGeom>
          <a:solidFill>
            <a:srgbClr val="167A85"/>
          </a:solidFill>
          <a:ln w="12700">
            <a:solidFill>
              <a:srgbClr val="FFFFFF">
                <a:alpha val="0"/>
              </a:srgbClr>
            </a:solidFill>
            <a:prstDash val="solid"/>
          </a:ln>
        </p:spPr>
      </p:sp>
      <p:sp>
        <p:nvSpPr>
          <p:cNvPr id="7" name="card-1-title"/>
          <p:cNvSpPr/>
          <p:nvPr/>
        </p:nvSpPr>
        <p:spPr>
          <a:xfrm>
            <a:off x="609600" y="1896999"/>
            <a:ext cx="1609725" cy="264033"/>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575" b="1" dirty="0">
                <a:solidFill>
                  <a:srgbClr val="167A85"/>
                </a:solidFill>
                <a:latin typeface="Calibri" pitchFamily="34" charset="0"/>
                <a:ea typeface="Calibri" pitchFamily="34" charset="-122"/>
                <a:cs typeface="Calibri" pitchFamily="34" charset="-120"/>
              </a:rPr>
              <a:t>Recruitment</a:t>
            </a:r>
            <a:endParaRPr lang="en-US" sz="1575" dirty="0"/>
          </a:p>
        </p:txBody>
      </p:sp>
      <p:sp>
        <p:nvSpPr>
          <p:cNvPr id="8" name="card-1-text"/>
          <p:cNvSpPr/>
          <p:nvPr/>
        </p:nvSpPr>
        <p:spPr>
          <a:xfrm>
            <a:off x="609600" y="2237232"/>
            <a:ext cx="1609725" cy="716661"/>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425" dirty="0">
                <a:solidFill>
                  <a:srgbClr val="243746"/>
                </a:solidFill>
                <a:latin typeface="Calibri" pitchFamily="34" charset="0"/>
                <a:ea typeface="Calibri" pitchFamily="34" charset="-122"/>
                <a:cs typeface="Calibri" pitchFamily="34" charset="-120"/>
              </a:rPr>
              <a:t>clear hiring criteria, not first impressions</a:t>
            </a:r>
            <a:endParaRPr lang="en-US" sz="1425" dirty="0"/>
          </a:p>
        </p:txBody>
      </p:sp>
      <p:sp>
        <p:nvSpPr>
          <p:cNvPr id="9" name="card-2"/>
          <p:cNvSpPr/>
          <p:nvPr/>
        </p:nvSpPr>
        <p:spPr>
          <a:xfrm>
            <a:off x="2562225" y="1696974"/>
            <a:ext cx="1914525" cy="1428750"/>
          </a:xfrm>
          <a:prstGeom prst="rect">
            <a:avLst/>
          </a:prstGeom>
          <a:solidFill>
            <a:srgbClr val="FFFFFF"/>
          </a:solidFill>
          <a:ln w="9525">
            <a:solidFill>
              <a:srgbClr val="D3DDE2"/>
            </a:solidFill>
            <a:prstDash val="solid"/>
          </a:ln>
        </p:spPr>
      </p:sp>
      <p:sp>
        <p:nvSpPr>
          <p:cNvPr id="10" name="card-2-bar"/>
          <p:cNvSpPr/>
          <p:nvPr/>
        </p:nvSpPr>
        <p:spPr>
          <a:xfrm>
            <a:off x="2562225" y="1696974"/>
            <a:ext cx="1914525" cy="47625"/>
          </a:xfrm>
          <a:prstGeom prst="rect">
            <a:avLst/>
          </a:prstGeom>
          <a:solidFill>
            <a:srgbClr val="167A85"/>
          </a:solidFill>
          <a:ln w="12700">
            <a:solidFill>
              <a:srgbClr val="FFFFFF">
                <a:alpha val="0"/>
              </a:srgbClr>
            </a:solidFill>
            <a:prstDash val="solid"/>
          </a:ln>
        </p:spPr>
      </p:sp>
      <p:sp>
        <p:nvSpPr>
          <p:cNvPr id="11" name="card-2-title"/>
          <p:cNvSpPr/>
          <p:nvPr/>
        </p:nvSpPr>
        <p:spPr>
          <a:xfrm>
            <a:off x="2714625" y="1896999"/>
            <a:ext cx="1609725" cy="264033"/>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575" b="1" dirty="0">
                <a:solidFill>
                  <a:srgbClr val="167A85"/>
                </a:solidFill>
                <a:latin typeface="Calibri" pitchFamily="34" charset="0"/>
                <a:ea typeface="Calibri" pitchFamily="34" charset="-122"/>
                <a:cs typeface="Calibri" pitchFamily="34" charset="-120"/>
              </a:rPr>
              <a:t>Training</a:t>
            </a:r>
            <a:endParaRPr lang="en-US" sz="1575" dirty="0"/>
          </a:p>
        </p:txBody>
      </p:sp>
      <p:sp>
        <p:nvSpPr>
          <p:cNvPr id="12" name="card-2-text"/>
          <p:cNvSpPr/>
          <p:nvPr/>
        </p:nvSpPr>
        <p:spPr>
          <a:xfrm>
            <a:off x="2714625" y="2237232"/>
            <a:ext cx="1609725" cy="716661"/>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425" dirty="0">
                <a:solidFill>
                  <a:srgbClr val="243746"/>
                </a:solidFill>
                <a:latin typeface="Calibri" pitchFamily="34" charset="0"/>
                <a:ea typeface="Calibri" pitchFamily="34" charset="-122"/>
                <a:cs typeface="Calibri" pitchFamily="34" charset="-120"/>
              </a:rPr>
              <a:t>compare people with the job to find skill gaps</a:t>
            </a:r>
            <a:endParaRPr lang="en-US" sz="1425" dirty="0"/>
          </a:p>
        </p:txBody>
      </p:sp>
      <p:sp>
        <p:nvSpPr>
          <p:cNvPr id="13" name="card-3"/>
          <p:cNvSpPr/>
          <p:nvPr/>
        </p:nvSpPr>
        <p:spPr>
          <a:xfrm>
            <a:off x="4667250" y="1696974"/>
            <a:ext cx="1914525" cy="1428750"/>
          </a:xfrm>
          <a:prstGeom prst="rect">
            <a:avLst/>
          </a:prstGeom>
          <a:solidFill>
            <a:srgbClr val="FFFFFF"/>
          </a:solidFill>
          <a:ln w="9525">
            <a:solidFill>
              <a:srgbClr val="D3DDE2"/>
            </a:solidFill>
            <a:prstDash val="solid"/>
          </a:ln>
        </p:spPr>
      </p:sp>
      <p:sp>
        <p:nvSpPr>
          <p:cNvPr id="14" name="card-3-bar"/>
          <p:cNvSpPr/>
          <p:nvPr/>
        </p:nvSpPr>
        <p:spPr>
          <a:xfrm>
            <a:off x="4667250" y="1696974"/>
            <a:ext cx="1914525" cy="47625"/>
          </a:xfrm>
          <a:prstGeom prst="rect">
            <a:avLst/>
          </a:prstGeom>
          <a:solidFill>
            <a:srgbClr val="167A85"/>
          </a:solidFill>
          <a:ln w="12700">
            <a:solidFill>
              <a:srgbClr val="FFFFFF">
                <a:alpha val="0"/>
              </a:srgbClr>
            </a:solidFill>
            <a:prstDash val="solid"/>
          </a:ln>
        </p:spPr>
      </p:sp>
      <p:sp>
        <p:nvSpPr>
          <p:cNvPr id="15" name="card-3-title"/>
          <p:cNvSpPr/>
          <p:nvPr/>
        </p:nvSpPr>
        <p:spPr>
          <a:xfrm>
            <a:off x="4819650" y="1896999"/>
            <a:ext cx="1609725" cy="264033"/>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575" b="1" dirty="0">
                <a:solidFill>
                  <a:srgbClr val="167A85"/>
                </a:solidFill>
                <a:latin typeface="Calibri" pitchFamily="34" charset="0"/>
                <a:ea typeface="Calibri" pitchFamily="34" charset="-122"/>
                <a:cs typeface="Calibri" pitchFamily="34" charset="-120"/>
              </a:rPr>
              <a:t>Performance</a:t>
            </a:r>
            <a:endParaRPr lang="en-US" sz="1575" dirty="0"/>
          </a:p>
        </p:txBody>
      </p:sp>
      <p:sp>
        <p:nvSpPr>
          <p:cNvPr id="16" name="card-3-text"/>
          <p:cNvSpPr/>
          <p:nvPr/>
        </p:nvSpPr>
        <p:spPr>
          <a:xfrm>
            <a:off x="4819650" y="2237232"/>
            <a:ext cx="1609725" cy="716661"/>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425" dirty="0">
                <a:solidFill>
                  <a:srgbClr val="243746"/>
                </a:solidFill>
                <a:latin typeface="Calibri" pitchFamily="34" charset="0"/>
                <a:ea typeface="Calibri" pitchFamily="34" charset="-122"/>
                <a:cs typeface="Calibri" pitchFamily="34" charset="-120"/>
              </a:rPr>
              <a:t>clear duties give appraisal a basis</a:t>
            </a:r>
            <a:endParaRPr lang="en-US" sz="1425" dirty="0"/>
          </a:p>
        </p:txBody>
      </p:sp>
      <p:sp>
        <p:nvSpPr>
          <p:cNvPr id="17" name="card-4"/>
          <p:cNvSpPr/>
          <p:nvPr/>
        </p:nvSpPr>
        <p:spPr>
          <a:xfrm>
            <a:off x="6772275" y="1696974"/>
            <a:ext cx="1914525" cy="1428750"/>
          </a:xfrm>
          <a:prstGeom prst="rect">
            <a:avLst/>
          </a:prstGeom>
          <a:solidFill>
            <a:srgbClr val="FFFFFF"/>
          </a:solidFill>
          <a:ln w="9525">
            <a:solidFill>
              <a:srgbClr val="D3DDE2"/>
            </a:solidFill>
            <a:prstDash val="solid"/>
          </a:ln>
        </p:spPr>
      </p:sp>
      <p:sp>
        <p:nvSpPr>
          <p:cNvPr id="18" name="card-4-bar"/>
          <p:cNvSpPr/>
          <p:nvPr/>
        </p:nvSpPr>
        <p:spPr>
          <a:xfrm>
            <a:off x="6772275" y="1696974"/>
            <a:ext cx="1914525" cy="47625"/>
          </a:xfrm>
          <a:prstGeom prst="rect">
            <a:avLst/>
          </a:prstGeom>
          <a:solidFill>
            <a:srgbClr val="167A85"/>
          </a:solidFill>
          <a:ln w="12700">
            <a:solidFill>
              <a:srgbClr val="FFFFFF">
                <a:alpha val="0"/>
              </a:srgbClr>
            </a:solidFill>
            <a:prstDash val="solid"/>
          </a:ln>
        </p:spPr>
      </p:sp>
      <p:sp>
        <p:nvSpPr>
          <p:cNvPr id="19" name="card-4-title"/>
          <p:cNvSpPr/>
          <p:nvPr/>
        </p:nvSpPr>
        <p:spPr>
          <a:xfrm>
            <a:off x="6924675" y="1896999"/>
            <a:ext cx="1609725" cy="264033"/>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575" b="1" dirty="0">
                <a:solidFill>
                  <a:srgbClr val="167A85"/>
                </a:solidFill>
                <a:latin typeface="Calibri" pitchFamily="34" charset="0"/>
                <a:ea typeface="Calibri" pitchFamily="34" charset="-122"/>
                <a:cs typeface="Calibri" pitchFamily="34" charset="-120"/>
              </a:rPr>
              <a:t>Pay</a:t>
            </a:r>
            <a:endParaRPr lang="en-US" sz="1575" dirty="0"/>
          </a:p>
        </p:txBody>
      </p:sp>
      <p:sp>
        <p:nvSpPr>
          <p:cNvPr id="20" name="card-4-text"/>
          <p:cNvSpPr/>
          <p:nvPr/>
        </p:nvSpPr>
        <p:spPr>
          <a:xfrm>
            <a:off x="6924675" y="2237232"/>
            <a:ext cx="1609725" cy="716661"/>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425" dirty="0">
                <a:solidFill>
                  <a:srgbClr val="243746"/>
                </a:solidFill>
                <a:latin typeface="Calibri" pitchFamily="34" charset="0"/>
                <a:ea typeface="Calibri" pitchFamily="34" charset="-122"/>
                <a:cs typeface="Calibri" pitchFamily="34" charset="-120"/>
              </a:rPr>
              <a:t>information for evaluating each job</a:t>
            </a:r>
            <a:endParaRPr lang="en-US" sz="1425" dirty="0"/>
          </a:p>
        </p:txBody>
      </p:sp>
      <p:sp>
        <p:nvSpPr>
          <p:cNvPr id="21" name="emphasis"/>
          <p:cNvSpPr/>
          <p:nvPr/>
        </p:nvSpPr>
        <p:spPr>
          <a:xfrm>
            <a:off x="457200" y="3392424"/>
            <a:ext cx="8229600" cy="518160"/>
          </a:xfrm>
          <a:prstGeom prst="rect">
            <a:avLst/>
          </a:prstGeom>
          <a:solidFill>
            <a:srgbClr val="E7F0F3"/>
          </a:solidFill>
          <a:ln w="12700">
            <a:solidFill>
              <a:srgbClr val="FFFFFF">
                <a:alpha val="0"/>
              </a:srgbClr>
            </a:solidFill>
            <a:prstDash val="solid"/>
          </a:ln>
        </p:spPr>
      </p:sp>
      <p:sp>
        <p:nvSpPr>
          <p:cNvPr id="22" name="emphasis-bar"/>
          <p:cNvSpPr/>
          <p:nvPr/>
        </p:nvSpPr>
        <p:spPr>
          <a:xfrm>
            <a:off x="457200" y="3392424"/>
            <a:ext cx="57150" cy="518160"/>
          </a:xfrm>
          <a:prstGeom prst="rect">
            <a:avLst/>
          </a:prstGeom>
          <a:solidFill>
            <a:srgbClr val="167A85"/>
          </a:solidFill>
          <a:ln w="12700">
            <a:solidFill>
              <a:srgbClr val="FFFFFF">
                <a:alpha val="0"/>
              </a:srgbClr>
            </a:solidFill>
            <a:prstDash val="solid"/>
          </a:ln>
        </p:spPr>
      </p:sp>
      <p:sp>
        <p:nvSpPr>
          <p:cNvPr id="23" name="emphasis-text"/>
          <p:cNvSpPr/>
          <p:nvPr/>
        </p:nvSpPr>
        <p:spPr>
          <a:xfrm>
            <a:off x="647700" y="3525774"/>
            <a:ext cx="7886700" cy="25146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500" b="1" dirty="0">
                <a:solidFill>
                  <a:srgbClr val="2F5D7C"/>
                </a:solidFill>
                <a:latin typeface="Calibri" pitchFamily="34" charset="0"/>
                <a:ea typeface="Calibri" pitchFamily="34" charset="-122"/>
                <a:cs typeface="Calibri" pitchFamily="34" charset="-120"/>
              </a:rPr>
              <a:t>Job analysis is the common starting point for hiring, training, appraisal and pay</a:t>
            </a:r>
            <a:endParaRPr lang="en-US" sz="1500" dirty="0"/>
          </a:p>
        </p:txBody>
      </p:sp>
      <p:sp>
        <p:nvSpPr>
          <p:cNvPr id="24" name="page-number"/>
          <p:cNvSpPr/>
          <p:nvPr/>
        </p:nvSpPr>
        <p:spPr>
          <a:xfrm>
            <a:off x="8115300" y="4629150"/>
            <a:ext cx="571500" cy="209550"/>
          </a:xfrm>
          <a:prstGeom prst="rect">
            <a:avLst/>
          </a:prstGeom>
          <a:solidFill>
            <a:srgbClr val="FFFFFF">
              <a:alpha val="0"/>
            </a:srgbClr>
          </a:solidFill>
          <a:ln>
            <a:solidFill>
              <a:srgbClr val="FFFFFF">
                <a:alpha val="0"/>
              </a:srgbClr>
            </a:solidFill>
          </a:ln>
        </p:spPr>
        <p:txBody>
          <a:bodyPr wrap="square" lIns="0" tIns="0" rIns="0" bIns="0" rtlCol="0" anchor="ctr"/>
          <a:lstStyle/>
          <a:p>
            <a:pPr algn="r" indent="0" marL="0">
              <a:buNone/>
            </a:pPr>
            <a:r>
              <a:rPr lang="en-US" sz="1050" dirty="0">
                <a:solidFill>
                  <a:srgbClr val="5E6E78"/>
                </a:solidFill>
                <a:latin typeface="Calibri" pitchFamily="34" charset="0"/>
                <a:ea typeface="Calibri" pitchFamily="34" charset="-122"/>
                <a:cs typeface="Calibri" pitchFamily="34" charset="-120"/>
              </a:rPr>
              <a:t>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F5D7C"/>
        </a:solidFill>
      </p:bgPr>
    </p:bg>
    <p:spTree>
      <p:nvGrpSpPr>
        <p:cNvPr id="1" name=""/>
        <p:cNvGrpSpPr/>
        <p:nvPr/>
      </p:nvGrpSpPr>
      <p:grpSpPr>
        <a:xfrm>
          <a:off x="0" y="0"/>
          <a:ext cx="0" cy="0"/>
          <a:chOff x="0" y="0"/>
          <a:chExt cx="0" cy="0"/>
        </a:xfrm>
      </p:grpSpPr>
      <p:sp>
        <p:nvSpPr>
          <p:cNvPr id="2" name="number"/>
          <p:cNvSpPr/>
          <p:nvPr/>
        </p:nvSpPr>
        <p:spPr>
          <a:xfrm>
            <a:off x="876300" y="1916811"/>
            <a:ext cx="7810500" cy="762000"/>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4800" b="1" dirty="0">
                <a:solidFill>
                  <a:srgbClr val="BFD4DE"/>
                </a:solidFill>
                <a:latin typeface="Calibri" pitchFamily="34" charset="0"/>
                <a:ea typeface="Calibri" pitchFamily="34" charset="-122"/>
                <a:cs typeface="Calibri" pitchFamily="34" charset="-120"/>
              </a:rPr>
              <a:t>02</a:t>
            </a:r>
            <a:endParaRPr lang="en-US" sz="4800" dirty="0"/>
          </a:p>
        </p:txBody>
      </p:sp>
      <p:sp>
        <p:nvSpPr>
          <p:cNvPr id="3" name="title"/>
          <p:cNvSpPr/>
          <p:nvPr/>
        </p:nvSpPr>
        <p:spPr>
          <a:xfrm>
            <a:off x="876300" y="2774061"/>
            <a:ext cx="7810500" cy="452628"/>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2700" b="1" dirty="0">
                <a:solidFill>
                  <a:srgbClr val="FFFFFF"/>
                </a:solidFill>
                <a:latin typeface="Calibri" pitchFamily="34" charset="0"/>
                <a:ea typeface="Calibri" pitchFamily="34" charset="-122"/>
                <a:cs typeface="Calibri" pitchFamily="34" charset="-120"/>
              </a:rPr>
              <a:t>The job analysis process</a:t>
            </a:r>
            <a:endParaRPr lang="en-US" sz="2700" dirty="0"/>
          </a:p>
        </p:txBody>
      </p:sp>
      <p:sp>
        <p:nvSpPr>
          <p:cNvPr id="4" name="title-accent"/>
          <p:cNvSpPr/>
          <p:nvPr/>
        </p:nvSpPr>
        <p:spPr>
          <a:xfrm>
            <a:off x="876300" y="3360039"/>
            <a:ext cx="762000" cy="38100"/>
          </a:xfrm>
          <a:prstGeom prst="rect">
            <a:avLst/>
          </a:prstGeom>
          <a:solidFill>
            <a:srgbClr val="BFD4DE"/>
          </a:solidFill>
          <a:ln w="12700">
            <a:solidFill>
              <a:srgbClr val="FFFFFF">
                <a:alpha val="0"/>
              </a:srgbClr>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arrow-1"/>
          <p:cNvSpPr/>
          <p:nvPr/>
        </p:nvSpPr>
        <p:spPr>
          <a:xfrm>
            <a:off x="2271713" y="2276380"/>
            <a:ext cx="323850" cy="0"/>
          </a:xfrm>
          <a:prstGeom prst="line">
            <a:avLst/>
          </a:prstGeom>
          <a:noFill/>
          <a:ln w="19050">
            <a:solidFill>
              <a:srgbClr val="A3B1B9"/>
            </a:solidFill>
            <a:prstDash val="solid"/>
            <a:tailEnd type="triangle"/>
          </a:ln>
        </p:spPr>
      </p:sp>
      <p:sp>
        <p:nvSpPr>
          <p:cNvPr id="3" name="arrow-2"/>
          <p:cNvSpPr/>
          <p:nvPr/>
        </p:nvSpPr>
        <p:spPr>
          <a:xfrm>
            <a:off x="4410075" y="2276380"/>
            <a:ext cx="323850" cy="0"/>
          </a:xfrm>
          <a:prstGeom prst="line">
            <a:avLst/>
          </a:prstGeom>
          <a:noFill/>
          <a:ln w="19050">
            <a:solidFill>
              <a:srgbClr val="A3B1B9"/>
            </a:solidFill>
            <a:prstDash val="solid"/>
            <a:tailEnd type="triangle"/>
          </a:ln>
        </p:spPr>
      </p:sp>
      <p:sp>
        <p:nvSpPr>
          <p:cNvPr id="4" name="arrow-3"/>
          <p:cNvSpPr/>
          <p:nvPr/>
        </p:nvSpPr>
        <p:spPr>
          <a:xfrm>
            <a:off x="6548438" y="2276380"/>
            <a:ext cx="323850" cy="0"/>
          </a:xfrm>
          <a:prstGeom prst="line">
            <a:avLst/>
          </a:prstGeom>
          <a:noFill/>
          <a:ln w="19050">
            <a:solidFill>
              <a:srgbClr val="A3B1B9"/>
            </a:solidFill>
            <a:prstDash val="solid"/>
            <a:tailEnd type="triangle"/>
          </a:ln>
        </p:spPr>
      </p:sp>
      <p:sp>
        <p:nvSpPr>
          <p:cNvPr id="5" name="heading"/>
          <p:cNvSpPr/>
          <p:nvPr/>
        </p:nvSpPr>
        <p:spPr>
          <a:xfrm>
            <a:off x="457200" y="228600"/>
            <a:ext cx="8229600" cy="381000"/>
          </a:xfrm>
          <a:prstGeom prst="rect">
            <a:avLst/>
          </a:prstGeom>
          <a:solidFill>
            <a:srgbClr val="FFFFFF">
              <a:alpha val="0"/>
            </a:srgbClr>
          </a:solidFill>
          <a:ln>
            <a:solidFill>
              <a:srgbClr val="FFFFFF">
                <a:alpha val="0"/>
              </a:srgbClr>
            </a:solidFill>
          </a:ln>
        </p:spPr>
        <p:txBody>
          <a:bodyPr wrap="square" lIns="0" tIns="0" rIns="0" bIns="0" rtlCol="0" anchor="b"/>
          <a:lstStyle/>
          <a:p>
            <a:pPr algn="l" indent="0" marL="0">
              <a:buNone/>
            </a:pPr>
            <a:r>
              <a:rPr lang="en-US" sz="2100" b="1" dirty="0">
                <a:solidFill>
                  <a:srgbClr val="2F5D7C"/>
                </a:solidFill>
                <a:latin typeface="Calibri" pitchFamily="34" charset="0"/>
                <a:ea typeface="Calibri" pitchFamily="34" charset="-122"/>
                <a:cs typeface="Calibri" pitchFamily="34" charset="-120"/>
              </a:rPr>
              <a:t>02 The job analysis process</a:t>
            </a:r>
            <a:endParaRPr lang="en-US" sz="2100" dirty="0"/>
          </a:p>
        </p:txBody>
      </p:sp>
      <p:sp>
        <p:nvSpPr>
          <p:cNvPr id="6" name="title-rule"/>
          <p:cNvSpPr/>
          <p:nvPr/>
        </p:nvSpPr>
        <p:spPr>
          <a:xfrm>
            <a:off x="457200" y="685800"/>
            <a:ext cx="8229600" cy="14288"/>
          </a:xfrm>
          <a:prstGeom prst="rect">
            <a:avLst/>
          </a:prstGeom>
          <a:solidFill>
            <a:srgbClr val="A3B1B9"/>
          </a:solidFill>
          <a:ln w="12700">
            <a:solidFill>
              <a:srgbClr val="FFFFFF">
                <a:alpha val="0"/>
              </a:srgbClr>
            </a:solidFill>
            <a:prstDash val="solid"/>
          </a:ln>
        </p:spPr>
      </p:sp>
      <p:sp>
        <p:nvSpPr>
          <p:cNvPr id="7" name="topic"/>
          <p:cNvSpPr/>
          <p:nvPr/>
        </p:nvSpPr>
        <p:spPr>
          <a:xfrm>
            <a:off x="457200" y="800100"/>
            <a:ext cx="8229600" cy="34290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650" b="1" dirty="0">
                <a:solidFill>
                  <a:srgbClr val="243746"/>
                </a:solidFill>
                <a:latin typeface="Calibri" pitchFamily="34" charset="0"/>
                <a:ea typeface="Calibri" pitchFamily="34" charset="-122"/>
                <a:cs typeface="Calibri" pitchFamily="34" charset="-120"/>
              </a:rPr>
              <a:t>Four stages</a:t>
            </a:r>
            <a:endParaRPr lang="en-US" sz="1650" dirty="0"/>
          </a:p>
        </p:txBody>
      </p:sp>
      <p:sp>
        <p:nvSpPr>
          <p:cNvPr id="8" name="step-1-number"/>
          <p:cNvSpPr/>
          <p:nvPr/>
        </p:nvSpPr>
        <p:spPr>
          <a:xfrm>
            <a:off x="457200" y="1742980"/>
            <a:ext cx="1814513" cy="247650"/>
          </a:xfrm>
          <a:prstGeom prst="rect">
            <a:avLst/>
          </a:prstGeom>
          <a:solidFill>
            <a:srgbClr val="FFFFFF">
              <a:alpha val="0"/>
            </a:srgbClr>
          </a:solidFill>
          <a:ln>
            <a:solidFill>
              <a:srgbClr val="FFFFFF">
                <a:alpha val="0"/>
              </a:srgbClr>
            </a:solidFill>
          </a:ln>
        </p:spPr>
        <p:txBody>
          <a:bodyPr wrap="square" lIns="0" tIns="0" rIns="0" bIns="0" rtlCol="0" anchor="t"/>
          <a:lstStyle/>
          <a:p>
            <a:pPr algn="ctr" indent="0" marL="0">
              <a:buNone/>
            </a:pPr>
            <a:r>
              <a:rPr lang="en-US" sz="1350" b="1" dirty="0">
                <a:solidFill>
                  <a:srgbClr val="167A85"/>
                </a:solidFill>
                <a:latin typeface="Calibri" pitchFamily="34" charset="0"/>
                <a:ea typeface="Calibri" pitchFamily="34" charset="-122"/>
                <a:cs typeface="Calibri" pitchFamily="34" charset="-120"/>
              </a:rPr>
              <a:t>01</a:t>
            </a:r>
            <a:endParaRPr lang="en-US" sz="1350" dirty="0"/>
          </a:p>
        </p:txBody>
      </p:sp>
      <p:sp>
        <p:nvSpPr>
          <p:cNvPr id="9" name="step-1"/>
          <p:cNvSpPr/>
          <p:nvPr/>
        </p:nvSpPr>
        <p:spPr>
          <a:xfrm>
            <a:off x="457200" y="2028730"/>
            <a:ext cx="1814513" cy="495300"/>
          </a:xfrm>
          <a:prstGeom prst="roundRect">
            <a:avLst>
              <a:gd name="adj" fmla="val 14769"/>
            </a:avLst>
          </a:prstGeom>
          <a:solidFill>
            <a:srgbClr val="2F5D7C"/>
          </a:solidFill>
          <a:ln>
            <a:solidFill>
              <a:srgbClr val="FFFFFF">
                <a:alpha val="0"/>
              </a:srgbClr>
            </a:solidFill>
          </a:ln>
        </p:spPr>
        <p:txBody>
          <a:bodyPr wrap="square" lIns="57150" tIns="57150" rIns="57150" bIns="57150" rtlCol="0" anchor="ctr"/>
          <a:lstStyle/>
          <a:p>
            <a:pPr algn="ctr" indent="0" marL="0">
              <a:buNone/>
            </a:pPr>
            <a:r>
              <a:rPr lang="en-US" sz="1425" b="1" dirty="0">
                <a:solidFill>
                  <a:srgbClr val="FFFFFF"/>
                </a:solidFill>
                <a:latin typeface="Calibri" pitchFamily="34" charset="0"/>
                <a:ea typeface="Calibri" pitchFamily="34" charset="-122"/>
                <a:cs typeface="Calibri" pitchFamily="34" charset="-120"/>
              </a:rPr>
              <a:t>Preparation</a:t>
            </a:r>
            <a:endParaRPr lang="en-US" sz="1425" dirty="0"/>
          </a:p>
        </p:txBody>
      </p:sp>
      <p:sp>
        <p:nvSpPr>
          <p:cNvPr id="10" name="step-1-text"/>
          <p:cNvSpPr/>
          <p:nvPr/>
        </p:nvSpPr>
        <p:spPr>
          <a:xfrm>
            <a:off x="457200" y="2638330"/>
            <a:ext cx="1814513" cy="1133856"/>
          </a:xfrm>
          <a:prstGeom prst="rect">
            <a:avLst/>
          </a:prstGeom>
          <a:solidFill>
            <a:srgbClr val="FFFFFF"/>
          </a:solidFill>
          <a:ln w="9525">
            <a:solidFill>
              <a:srgbClr val="D3DDE2"/>
            </a:solidFill>
          </a:ln>
        </p:spPr>
        <p:txBody>
          <a:bodyPr wrap="square" lIns="95250" tIns="95250" rIns="95250" bIns="95250" rtlCol="0" anchor="t"/>
          <a:lstStyle/>
          <a:p>
            <a:pPr algn="l" indent="0" marL="0">
              <a:buNone/>
            </a:pPr>
            <a:r>
              <a:rPr lang="en-US" sz="1350" dirty="0">
                <a:solidFill>
                  <a:srgbClr val="243746"/>
                </a:solidFill>
                <a:latin typeface="Calibri" pitchFamily="34" charset="0"/>
                <a:ea typeface="Calibri" pitchFamily="34" charset="-122"/>
                <a:cs typeface="Calibri" pitchFamily="34" charset="-120"/>
              </a:rPr>
              <a:t>Set the purpose, choose target jobs, form a working group</a:t>
            </a:r>
            <a:endParaRPr lang="en-US" sz="1350" dirty="0"/>
          </a:p>
        </p:txBody>
      </p:sp>
      <p:sp>
        <p:nvSpPr>
          <p:cNvPr id="11" name="step-2-number"/>
          <p:cNvSpPr/>
          <p:nvPr/>
        </p:nvSpPr>
        <p:spPr>
          <a:xfrm>
            <a:off x="2595563" y="1742980"/>
            <a:ext cx="1814513" cy="247650"/>
          </a:xfrm>
          <a:prstGeom prst="rect">
            <a:avLst/>
          </a:prstGeom>
          <a:solidFill>
            <a:srgbClr val="FFFFFF">
              <a:alpha val="0"/>
            </a:srgbClr>
          </a:solidFill>
          <a:ln>
            <a:solidFill>
              <a:srgbClr val="FFFFFF">
                <a:alpha val="0"/>
              </a:srgbClr>
            </a:solidFill>
          </a:ln>
        </p:spPr>
        <p:txBody>
          <a:bodyPr wrap="square" lIns="0" tIns="0" rIns="0" bIns="0" rtlCol="0" anchor="t"/>
          <a:lstStyle/>
          <a:p>
            <a:pPr algn="ctr" indent="0" marL="0">
              <a:buNone/>
            </a:pPr>
            <a:r>
              <a:rPr lang="en-US" sz="1350" b="1" dirty="0">
                <a:solidFill>
                  <a:srgbClr val="167A85"/>
                </a:solidFill>
                <a:latin typeface="Calibri" pitchFamily="34" charset="0"/>
                <a:ea typeface="Calibri" pitchFamily="34" charset="-122"/>
                <a:cs typeface="Calibri" pitchFamily="34" charset="-120"/>
              </a:rPr>
              <a:t>02</a:t>
            </a:r>
            <a:endParaRPr lang="en-US" sz="1350" dirty="0"/>
          </a:p>
        </p:txBody>
      </p:sp>
      <p:sp>
        <p:nvSpPr>
          <p:cNvPr id="12" name="step-2"/>
          <p:cNvSpPr/>
          <p:nvPr/>
        </p:nvSpPr>
        <p:spPr>
          <a:xfrm>
            <a:off x="2595563" y="2028730"/>
            <a:ext cx="1814513" cy="495300"/>
          </a:xfrm>
          <a:prstGeom prst="roundRect">
            <a:avLst>
              <a:gd name="adj" fmla="val 14769"/>
            </a:avLst>
          </a:prstGeom>
          <a:solidFill>
            <a:srgbClr val="2F5D7C"/>
          </a:solidFill>
          <a:ln>
            <a:solidFill>
              <a:srgbClr val="FFFFFF">
                <a:alpha val="0"/>
              </a:srgbClr>
            </a:solidFill>
          </a:ln>
        </p:spPr>
        <p:txBody>
          <a:bodyPr wrap="square" lIns="57150" tIns="57150" rIns="57150" bIns="57150" rtlCol="0" anchor="ctr"/>
          <a:lstStyle/>
          <a:p>
            <a:pPr algn="ctr" indent="0" marL="0">
              <a:buNone/>
            </a:pPr>
            <a:r>
              <a:rPr lang="en-US" sz="1425" b="1" dirty="0">
                <a:solidFill>
                  <a:srgbClr val="FFFFFF"/>
                </a:solidFill>
                <a:latin typeface="Calibri" pitchFamily="34" charset="0"/>
                <a:ea typeface="Calibri" pitchFamily="34" charset="-122"/>
                <a:cs typeface="Calibri" pitchFamily="34" charset="-120"/>
              </a:rPr>
              <a:t>Investigation</a:t>
            </a:r>
            <a:endParaRPr lang="en-US" sz="1425" dirty="0"/>
          </a:p>
        </p:txBody>
      </p:sp>
      <p:sp>
        <p:nvSpPr>
          <p:cNvPr id="13" name="step-2-text"/>
          <p:cNvSpPr/>
          <p:nvPr/>
        </p:nvSpPr>
        <p:spPr>
          <a:xfrm>
            <a:off x="2595563" y="2638330"/>
            <a:ext cx="1814513" cy="1133856"/>
          </a:xfrm>
          <a:prstGeom prst="rect">
            <a:avLst/>
          </a:prstGeom>
          <a:solidFill>
            <a:srgbClr val="FFFFFF"/>
          </a:solidFill>
          <a:ln w="9525">
            <a:solidFill>
              <a:srgbClr val="D3DDE2"/>
            </a:solidFill>
          </a:ln>
        </p:spPr>
        <p:txBody>
          <a:bodyPr wrap="square" lIns="95250" tIns="95250" rIns="95250" bIns="95250" rtlCol="0" anchor="t"/>
          <a:lstStyle/>
          <a:p>
            <a:pPr algn="l" indent="0" marL="0">
              <a:buNone/>
            </a:pPr>
            <a:r>
              <a:rPr lang="en-US" sz="1350" dirty="0">
                <a:solidFill>
                  <a:srgbClr val="243746"/>
                </a:solidFill>
                <a:latin typeface="Calibri" pitchFamily="34" charset="0"/>
                <a:ea typeface="Calibri" pitchFamily="34" charset="-122"/>
                <a:cs typeface="Calibri" pitchFamily="34" charset="-120"/>
              </a:rPr>
              <a:t>Choose methods, collect duties, tasks and conditions</a:t>
            </a:r>
            <a:endParaRPr lang="en-US" sz="1350" dirty="0"/>
          </a:p>
        </p:txBody>
      </p:sp>
      <p:sp>
        <p:nvSpPr>
          <p:cNvPr id="14" name="step-3-number"/>
          <p:cNvSpPr/>
          <p:nvPr/>
        </p:nvSpPr>
        <p:spPr>
          <a:xfrm>
            <a:off x="4733925" y="1742980"/>
            <a:ext cx="1814513" cy="247650"/>
          </a:xfrm>
          <a:prstGeom prst="rect">
            <a:avLst/>
          </a:prstGeom>
          <a:solidFill>
            <a:srgbClr val="FFFFFF">
              <a:alpha val="0"/>
            </a:srgbClr>
          </a:solidFill>
          <a:ln>
            <a:solidFill>
              <a:srgbClr val="FFFFFF">
                <a:alpha val="0"/>
              </a:srgbClr>
            </a:solidFill>
          </a:ln>
        </p:spPr>
        <p:txBody>
          <a:bodyPr wrap="square" lIns="0" tIns="0" rIns="0" bIns="0" rtlCol="0" anchor="t"/>
          <a:lstStyle/>
          <a:p>
            <a:pPr algn="ctr" indent="0" marL="0">
              <a:buNone/>
            </a:pPr>
            <a:r>
              <a:rPr lang="en-US" sz="1350" b="1" dirty="0">
                <a:solidFill>
                  <a:srgbClr val="167A85"/>
                </a:solidFill>
                <a:latin typeface="Calibri" pitchFamily="34" charset="0"/>
                <a:ea typeface="Calibri" pitchFamily="34" charset="-122"/>
                <a:cs typeface="Calibri" pitchFamily="34" charset="-120"/>
              </a:rPr>
              <a:t>03</a:t>
            </a:r>
            <a:endParaRPr lang="en-US" sz="1350" dirty="0"/>
          </a:p>
        </p:txBody>
      </p:sp>
      <p:sp>
        <p:nvSpPr>
          <p:cNvPr id="15" name="step-3"/>
          <p:cNvSpPr/>
          <p:nvPr/>
        </p:nvSpPr>
        <p:spPr>
          <a:xfrm>
            <a:off x="4733925" y="2028730"/>
            <a:ext cx="1814513" cy="495300"/>
          </a:xfrm>
          <a:prstGeom prst="roundRect">
            <a:avLst>
              <a:gd name="adj" fmla="val 14769"/>
            </a:avLst>
          </a:prstGeom>
          <a:solidFill>
            <a:srgbClr val="2F5D7C"/>
          </a:solidFill>
          <a:ln>
            <a:solidFill>
              <a:srgbClr val="FFFFFF">
                <a:alpha val="0"/>
              </a:srgbClr>
            </a:solidFill>
          </a:ln>
        </p:spPr>
        <p:txBody>
          <a:bodyPr wrap="square" lIns="57150" tIns="57150" rIns="57150" bIns="57150" rtlCol="0" anchor="ctr"/>
          <a:lstStyle/>
          <a:p>
            <a:pPr algn="ctr" indent="0" marL="0">
              <a:buNone/>
            </a:pPr>
            <a:r>
              <a:rPr lang="en-US" sz="1425" b="1" dirty="0">
                <a:solidFill>
                  <a:srgbClr val="FFFFFF"/>
                </a:solidFill>
                <a:latin typeface="Calibri" pitchFamily="34" charset="0"/>
                <a:ea typeface="Calibri" pitchFamily="34" charset="-122"/>
                <a:cs typeface="Calibri" pitchFamily="34" charset="-120"/>
              </a:rPr>
              <a:t>Analysis</a:t>
            </a:r>
            <a:endParaRPr lang="en-US" sz="1425" dirty="0"/>
          </a:p>
        </p:txBody>
      </p:sp>
      <p:sp>
        <p:nvSpPr>
          <p:cNvPr id="16" name="step-3-text"/>
          <p:cNvSpPr/>
          <p:nvPr/>
        </p:nvSpPr>
        <p:spPr>
          <a:xfrm>
            <a:off x="4733925" y="2638330"/>
            <a:ext cx="1814513" cy="1133856"/>
          </a:xfrm>
          <a:prstGeom prst="rect">
            <a:avLst/>
          </a:prstGeom>
          <a:solidFill>
            <a:srgbClr val="FFFFFF"/>
          </a:solidFill>
          <a:ln w="9525">
            <a:solidFill>
              <a:srgbClr val="D3DDE2"/>
            </a:solidFill>
          </a:ln>
        </p:spPr>
        <p:txBody>
          <a:bodyPr wrap="square" lIns="95250" tIns="95250" rIns="95250" bIns="95250" rtlCol="0" anchor="t"/>
          <a:lstStyle/>
          <a:p>
            <a:pPr algn="l" indent="0" marL="0">
              <a:buNone/>
            </a:pPr>
            <a:r>
              <a:rPr lang="en-US" sz="1350" dirty="0">
                <a:solidFill>
                  <a:srgbClr val="243746"/>
                </a:solidFill>
                <a:latin typeface="Calibri" pitchFamily="34" charset="0"/>
                <a:ea typeface="Calibri" pitchFamily="34" charset="-122"/>
                <a:cs typeface="Calibri" pitchFamily="34" charset="-120"/>
              </a:rPr>
              <a:t>Organize and verify information, summarize requirements</a:t>
            </a:r>
            <a:endParaRPr lang="en-US" sz="1350" dirty="0"/>
          </a:p>
        </p:txBody>
      </p:sp>
      <p:sp>
        <p:nvSpPr>
          <p:cNvPr id="17" name="step-4-number"/>
          <p:cNvSpPr/>
          <p:nvPr/>
        </p:nvSpPr>
        <p:spPr>
          <a:xfrm>
            <a:off x="6872288" y="1742980"/>
            <a:ext cx="1814513" cy="247650"/>
          </a:xfrm>
          <a:prstGeom prst="rect">
            <a:avLst/>
          </a:prstGeom>
          <a:solidFill>
            <a:srgbClr val="FFFFFF">
              <a:alpha val="0"/>
            </a:srgbClr>
          </a:solidFill>
          <a:ln>
            <a:solidFill>
              <a:srgbClr val="FFFFFF">
                <a:alpha val="0"/>
              </a:srgbClr>
            </a:solidFill>
          </a:ln>
        </p:spPr>
        <p:txBody>
          <a:bodyPr wrap="square" lIns="0" tIns="0" rIns="0" bIns="0" rtlCol="0" anchor="t"/>
          <a:lstStyle/>
          <a:p>
            <a:pPr algn="ctr" indent="0" marL="0">
              <a:buNone/>
            </a:pPr>
            <a:r>
              <a:rPr lang="en-US" sz="1350" b="1" dirty="0">
                <a:solidFill>
                  <a:srgbClr val="167A85"/>
                </a:solidFill>
                <a:latin typeface="Calibri" pitchFamily="34" charset="0"/>
                <a:ea typeface="Calibri" pitchFamily="34" charset="-122"/>
                <a:cs typeface="Calibri" pitchFamily="34" charset="-120"/>
              </a:rPr>
              <a:t>04</a:t>
            </a:r>
            <a:endParaRPr lang="en-US" sz="1350" dirty="0"/>
          </a:p>
        </p:txBody>
      </p:sp>
      <p:sp>
        <p:nvSpPr>
          <p:cNvPr id="18" name="step-4"/>
          <p:cNvSpPr/>
          <p:nvPr/>
        </p:nvSpPr>
        <p:spPr>
          <a:xfrm>
            <a:off x="6872288" y="2028730"/>
            <a:ext cx="1814513" cy="495300"/>
          </a:xfrm>
          <a:prstGeom prst="roundRect">
            <a:avLst>
              <a:gd name="adj" fmla="val 14769"/>
            </a:avLst>
          </a:prstGeom>
          <a:solidFill>
            <a:srgbClr val="2F5D7C"/>
          </a:solidFill>
          <a:ln>
            <a:solidFill>
              <a:srgbClr val="FFFFFF">
                <a:alpha val="0"/>
              </a:srgbClr>
            </a:solidFill>
          </a:ln>
        </p:spPr>
        <p:txBody>
          <a:bodyPr wrap="square" lIns="57150" tIns="57150" rIns="57150" bIns="57150" rtlCol="0" anchor="ctr"/>
          <a:lstStyle/>
          <a:p>
            <a:pPr algn="ctr" indent="0" marL="0">
              <a:buNone/>
            </a:pPr>
            <a:r>
              <a:rPr lang="en-US" sz="1425" b="1" dirty="0">
                <a:solidFill>
                  <a:srgbClr val="FFFFFF"/>
                </a:solidFill>
                <a:latin typeface="Calibri" pitchFamily="34" charset="0"/>
                <a:ea typeface="Calibri" pitchFamily="34" charset="-122"/>
                <a:cs typeface="Calibri" pitchFamily="34" charset="-120"/>
              </a:rPr>
              <a:t>Completion</a:t>
            </a:r>
            <a:endParaRPr lang="en-US" sz="1425" dirty="0"/>
          </a:p>
        </p:txBody>
      </p:sp>
      <p:sp>
        <p:nvSpPr>
          <p:cNvPr id="19" name="step-4-text"/>
          <p:cNvSpPr/>
          <p:nvPr/>
        </p:nvSpPr>
        <p:spPr>
          <a:xfrm>
            <a:off x="6872288" y="2638330"/>
            <a:ext cx="1814513" cy="1133856"/>
          </a:xfrm>
          <a:prstGeom prst="rect">
            <a:avLst/>
          </a:prstGeom>
          <a:solidFill>
            <a:srgbClr val="FFFFFF"/>
          </a:solidFill>
          <a:ln w="9525">
            <a:solidFill>
              <a:srgbClr val="D3DDE2"/>
            </a:solidFill>
          </a:ln>
        </p:spPr>
        <p:txBody>
          <a:bodyPr wrap="square" lIns="95250" tIns="95250" rIns="95250" bIns="95250" rtlCol="0" anchor="t"/>
          <a:lstStyle/>
          <a:p>
            <a:pPr algn="l" indent="0" marL="0">
              <a:buNone/>
            </a:pPr>
            <a:r>
              <a:rPr lang="en-US" sz="1350" dirty="0">
                <a:solidFill>
                  <a:srgbClr val="243746"/>
                </a:solidFill>
                <a:latin typeface="Calibri" pitchFamily="34" charset="0"/>
                <a:ea typeface="Calibri" pitchFamily="34" charset="-122"/>
                <a:cs typeface="Calibri" pitchFamily="34" charset="-120"/>
              </a:rPr>
              <a:t>Write the documents and revise them as they are used</a:t>
            </a:r>
            <a:endParaRPr lang="en-US" sz="1350" dirty="0"/>
          </a:p>
        </p:txBody>
      </p:sp>
      <p:sp>
        <p:nvSpPr>
          <p:cNvPr id="20" name="page-number"/>
          <p:cNvSpPr/>
          <p:nvPr/>
        </p:nvSpPr>
        <p:spPr>
          <a:xfrm>
            <a:off x="8115300" y="4629150"/>
            <a:ext cx="571500" cy="209550"/>
          </a:xfrm>
          <a:prstGeom prst="rect">
            <a:avLst/>
          </a:prstGeom>
          <a:solidFill>
            <a:srgbClr val="FFFFFF">
              <a:alpha val="0"/>
            </a:srgbClr>
          </a:solidFill>
          <a:ln>
            <a:solidFill>
              <a:srgbClr val="FFFFFF">
                <a:alpha val="0"/>
              </a:srgbClr>
            </a:solidFill>
          </a:ln>
        </p:spPr>
        <p:txBody>
          <a:bodyPr wrap="square" lIns="0" tIns="0" rIns="0" bIns="0" rtlCol="0" anchor="ctr"/>
          <a:lstStyle/>
          <a:p>
            <a:pPr algn="r" indent="0" marL="0">
              <a:buNone/>
            </a:pPr>
            <a:r>
              <a:rPr lang="en-US" sz="1050" dirty="0">
                <a:solidFill>
                  <a:srgbClr val="5E6E78"/>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F5D7C"/>
        </a:solidFill>
      </p:bgPr>
    </p:bg>
    <p:spTree>
      <p:nvGrpSpPr>
        <p:cNvPr id="1" name=""/>
        <p:cNvGrpSpPr/>
        <p:nvPr/>
      </p:nvGrpSpPr>
      <p:grpSpPr>
        <a:xfrm>
          <a:off x="0" y="0"/>
          <a:ext cx="0" cy="0"/>
          <a:chOff x="0" y="0"/>
          <a:chExt cx="0" cy="0"/>
        </a:xfrm>
      </p:grpSpPr>
      <p:sp>
        <p:nvSpPr>
          <p:cNvPr id="2" name="number"/>
          <p:cNvSpPr/>
          <p:nvPr/>
        </p:nvSpPr>
        <p:spPr>
          <a:xfrm>
            <a:off x="876300" y="1916811"/>
            <a:ext cx="7810500" cy="762000"/>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4800" b="1" dirty="0">
                <a:solidFill>
                  <a:srgbClr val="BFD4DE"/>
                </a:solidFill>
                <a:latin typeface="Calibri" pitchFamily="34" charset="0"/>
                <a:ea typeface="Calibri" pitchFamily="34" charset="-122"/>
                <a:cs typeface="Calibri" pitchFamily="34" charset="-120"/>
              </a:rPr>
              <a:t>03</a:t>
            </a:r>
            <a:endParaRPr lang="en-US" sz="4800" dirty="0"/>
          </a:p>
        </p:txBody>
      </p:sp>
      <p:sp>
        <p:nvSpPr>
          <p:cNvPr id="3" name="title"/>
          <p:cNvSpPr/>
          <p:nvPr/>
        </p:nvSpPr>
        <p:spPr>
          <a:xfrm>
            <a:off x="876300" y="2774061"/>
            <a:ext cx="7810500" cy="452628"/>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2700" b="1" dirty="0">
                <a:solidFill>
                  <a:srgbClr val="FFFFFF"/>
                </a:solidFill>
                <a:latin typeface="Calibri" pitchFamily="34" charset="0"/>
                <a:ea typeface="Calibri" pitchFamily="34" charset="-122"/>
                <a:cs typeface="Calibri" pitchFamily="34" charset="-120"/>
              </a:rPr>
              <a:t>Common methods</a:t>
            </a:r>
            <a:endParaRPr lang="en-US" sz="2700" dirty="0"/>
          </a:p>
        </p:txBody>
      </p:sp>
      <p:sp>
        <p:nvSpPr>
          <p:cNvPr id="4" name="title-accent"/>
          <p:cNvSpPr/>
          <p:nvPr/>
        </p:nvSpPr>
        <p:spPr>
          <a:xfrm>
            <a:off x="876300" y="3360039"/>
            <a:ext cx="762000" cy="38100"/>
          </a:xfrm>
          <a:prstGeom prst="rect">
            <a:avLst/>
          </a:prstGeom>
          <a:solidFill>
            <a:srgbClr val="BFD4DE"/>
          </a:solidFill>
          <a:ln w="12700">
            <a:solidFill>
              <a:srgbClr val="FFFFFF">
                <a:alpha val="0"/>
              </a:srgbClr>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p:bgPr>
    </p:bg>
    <p:spTree>
      <p:nvGrpSpPr>
        <p:cNvPr id="1" name=""/>
        <p:cNvGrpSpPr/>
        <p:nvPr/>
      </p:nvGrpSpPr>
      <p:grpSpPr>
        <a:xfrm>
          <a:off x="0" y="0"/>
          <a:ext cx="0" cy="0"/>
          <a:chOff x="0" y="0"/>
          <a:chExt cx="0" cy="0"/>
        </a:xfrm>
      </p:grpSpPr>
      <p:sp>
        <p:nvSpPr>
          <p:cNvPr id="2" name="heading"/>
          <p:cNvSpPr/>
          <p:nvPr/>
        </p:nvSpPr>
        <p:spPr>
          <a:xfrm>
            <a:off x="457200" y="228600"/>
            <a:ext cx="8229600" cy="381000"/>
          </a:xfrm>
          <a:prstGeom prst="rect">
            <a:avLst/>
          </a:prstGeom>
          <a:solidFill>
            <a:srgbClr val="FFFFFF">
              <a:alpha val="0"/>
            </a:srgbClr>
          </a:solidFill>
          <a:ln>
            <a:solidFill>
              <a:srgbClr val="FFFFFF">
                <a:alpha val="0"/>
              </a:srgbClr>
            </a:solidFill>
          </a:ln>
        </p:spPr>
        <p:txBody>
          <a:bodyPr wrap="square" lIns="0" tIns="0" rIns="0" bIns="0" rtlCol="0" anchor="b"/>
          <a:lstStyle/>
          <a:p>
            <a:pPr algn="l" indent="0" marL="0">
              <a:buNone/>
            </a:pPr>
            <a:r>
              <a:rPr lang="en-US" sz="2100" b="1" dirty="0">
                <a:solidFill>
                  <a:srgbClr val="2F5D7C"/>
                </a:solidFill>
                <a:latin typeface="Calibri" pitchFamily="34" charset="0"/>
                <a:ea typeface="Calibri" pitchFamily="34" charset="-122"/>
                <a:cs typeface="Calibri" pitchFamily="34" charset="-120"/>
              </a:rPr>
              <a:t>03 Common methods</a:t>
            </a:r>
            <a:endParaRPr lang="en-US" sz="2100" dirty="0"/>
          </a:p>
        </p:txBody>
      </p:sp>
      <p:sp>
        <p:nvSpPr>
          <p:cNvPr id="3" name="title-rule"/>
          <p:cNvSpPr/>
          <p:nvPr/>
        </p:nvSpPr>
        <p:spPr>
          <a:xfrm>
            <a:off x="457200" y="685800"/>
            <a:ext cx="8229600" cy="14288"/>
          </a:xfrm>
          <a:prstGeom prst="rect">
            <a:avLst/>
          </a:prstGeom>
          <a:solidFill>
            <a:srgbClr val="A3B1B9"/>
          </a:solidFill>
          <a:ln w="12700">
            <a:solidFill>
              <a:srgbClr val="FFFFFF">
                <a:alpha val="0"/>
              </a:srgbClr>
            </a:solidFill>
            <a:prstDash val="solid"/>
          </a:ln>
        </p:spPr>
      </p:sp>
      <p:sp>
        <p:nvSpPr>
          <p:cNvPr id="4" name="topic"/>
          <p:cNvSpPr/>
          <p:nvPr/>
        </p:nvSpPr>
        <p:spPr>
          <a:xfrm>
            <a:off x="457200" y="800100"/>
            <a:ext cx="8229600" cy="34290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650" b="1" dirty="0">
                <a:solidFill>
                  <a:srgbClr val="243746"/>
                </a:solidFill>
                <a:latin typeface="Calibri" pitchFamily="34" charset="0"/>
                <a:ea typeface="Calibri" pitchFamily="34" charset="-122"/>
                <a:cs typeface="Calibri" pitchFamily="34" charset="-120"/>
              </a:rPr>
              <a:t>Comparing four methods</a:t>
            </a:r>
            <a:endParaRPr lang="en-US" sz="165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1703070"/>
        </p:xfrm>
        <a:graphic>
          <a:graphicData uri="http://schemas.openxmlformats.org/drawingml/2006/table">
            <a:tbl>
              <a:tblPr/>
              <a:tblGrid>
                <a:gridCol w="1291450"/>
                <a:gridCol w="2679856"/>
                <a:gridCol w="2117513"/>
                <a:gridCol w="2140782"/>
              </a:tblGrid>
              <a:tr h="340614">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Method</a:t>
                      </a:r>
                      <a:endParaRPr lang="en-US" sz="1350" dirty="0">
                        <a:latin typeface="Calibri" charset="0"/>
                        <a:ea typeface="Calibri" charset="0"/>
                        <a:cs typeface="Calibri" charset="0"/>
                      </a:endParaRPr>
                    </a:p>
                  </a:txBody>
                  <a:tcPr marL="76200" marR="76200" marT="50800" marB="50800"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2F5D7C"/>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How</a:t>
                      </a:r>
                      <a:endParaRPr lang="en-US" sz="1350" dirty="0">
                        <a:latin typeface="Calibri" charset="0"/>
                        <a:ea typeface="Calibri" charset="0"/>
                        <a:cs typeface="Calibri" charset="0"/>
                      </a:endParaRPr>
                    </a:p>
                  </a:txBody>
                  <a:tcPr marL="76200" marR="76200" marT="50800" marB="50800"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2F5D7C"/>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Strengths</a:t>
                      </a:r>
                      <a:endParaRPr lang="en-US" sz="1350" dirty="0">
                        <a:latin typeface="Calibri" charset="0"/>
                        <a:ea typeface="Calibri" charset="0"/>
                        <a:cs typeface="Calibri" charset="0"/>
                      </a:endParaRPr>
                    </a:p>
                  </a:txBody>
                  <a:tcPr marL="76200" marR="76200" marT="50800" marB="50800"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2F5D7C"/>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Limits</a:t>
                      </a:r>
                      <a:endParaRPr lang="en-US" sz="1350" dirty="0">
                        <a:latin typeface="Calibri" charset="0"/>
                        <a:ea typeface="Calibri" charset="0"/>
                        <a:cs typeface="Calibri" charset="0"/>
                      </a:endParaRPr>
                    </a:p>
                  </a:txBody>
                  <a:tcPr marL="76200" marR="76200" marT="50800" marB="50800"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2F5D7C"/>
                    </a:solidFill>
                  </a:tcPr>
                </a:tc>
              </a:tr>
              <a:tr h="340614">
                <a:tc>
                  <a:txBody>
                    <a:bodyPr/>
                    <a:lstStyle/>
                    <a:p>
                      <a:pPr algn="l" indent="0" marL="0">
                        <a:buNone/>
                      </a:pPr>
                      <a:r>
                        <a:rPr lang="en-US" sz="1350" b="1" dirty="0">
                          <a:solidFill>
                            <a:srgbClr val="243746"/>
                          </a:solidFill>
                          <a:latin typeface="Calibri" pitchFamily="34" charset="0"/>
                          <a:ea typeface="Calibri" pitchFamily="34" charset="-122"/>
                          <a:cs typeface="Calibri" pitchFamily="34" charset="-120"/>
                        </a:rPr>
                        <a:t>Observation</a:t>
                      </a:r>
                      <a:endParaRPr lang="en-US" sz="1350" dirty="0">
                        <a:latin typeface="Calibri" charset="0"/>
                        <a:ea typeface="Calibri" charset="0"/>
                        <a:cs typeface="Calibri" charset="0"/>
                      </a:endParaRPr>
                    </a:p>
                  </a:txBody>
                  <a:tcPr marL="76200" marR="76200" marT="50800" marB="50800"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E7F0F3"/>
                    </a:solidFill>
                  </a:tcPr>
                </a:tc>
                <a:tc>
                  <a:txBody>
                    <a:bodyPr/>
                    <a:lstStyle/>
                    <a:p>
                      <a:pPr algn="l" indent="0" marL="0">
                        <a:buNone/>
                      </a:pPr>
                      <a:r>
                        <a:rPr lang="en-US" sz="1350" dirty="0">
                          <a:solidFill>
                            <a:srgbClr val="243746"/>
                          </a:solidFill>
                          <a:latin typeface="Calibri" pitchFamily="34" charset="0"/>
                          <a:ea typeface="Calibri" pitchFamily="34" charset="-122"/>
                          <a:cs typeface="Calibri" pitchFamily="34" charset="-120"/>
                        </a:rPr>
                        <a:t>Watch people at work</a:t>
                      </a:r>
                      <a:endParaRPr lang="en-US" sz="1350" dirty="0">
                        <a:latin typeface="Calibri" charset="0"/>
                        <a:ea typeface="Calibri" charset="0"/>
                        <a:cs typeface="Calibri" charset="0"/>
                      </a:endParaRPr>
                    </a:p>
                  </a:txBody>
                  <a:tcPr marL="76200" marR="76200" marT="50800" marB="50800"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E7F0F3"/>
                    </a:solidFill>
                  </a:tcPr>
                </a:tc>
                <a:tc>
                  <a:txBody>
                    <a:bodyPr/>
                    <a:lstStyle/>
                    <a:p>
                      <a:pPr algn="l" indent="0" marL="0">
                        <a:buNone/>
                      </a:pPr>
                      <a:r>
                        <a:rPr lang="en-US" sz="1350" dirty="0">
                          <a:solidFill>
                            <a:srgbClr val="243746"/>
                          </a:solidFill>
                          <a:latin typeface="Calibri" pitchFamily="34" charset="0"/>
                          <a:ea typeface="Calibri" pitchFamily="34" charset="-122"/>
                          <a:cs typeface="Calibri" pitchFamily="34" charset="-120"/>
                        </a:rPr>
                        <a:t>Direct and realistic</a:t>
                      </a:r>
                      <a:endParaRPr lang="en-US" sz="1350" dirty="0">
                        <a:latin typeface="Calibri" charset="0"/>
                        <a:ea typeface="Calibri" charset="0"/>
                        <a:cs typeface="Calibri" charset="0"/>
                      </a:endParaRPr>
                    </a:p>
                  </a:txBody>
                  <a:tcPr marL="76200" marR="76200" marT="50800" marB="50800"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E7F0F3"/>
                    </a:solidFill>
                  </a:tcPr>
                </a:tc>
                <a:tc>
                  <a:txBody>
                    <a:bodyPr/>
                    <a:lstStyle/>
                    <a:p>
                      <a:pPr algn="l" indent="0" marL="0">
                        <a:buNone/>
                      </a:pPr>
                      <a:r>
                        <a:rPr lang="en-US" sz="1350" dirty="0">
                          <a:solidFill>
                            <a:srgbClr val="243746"/>
                          </a:solidFill>
                          <a:latin typeface="Calibri" pitchFamily="34" charset="0"/>
                          <a:ea typeface="Calibri" pitchFamily="34" charset="-122"/>
                          <a:cs typeface="Calibri" pitchFamily="34" charset="-120"/>
                        </a:rPr>
                        <a:t>Poor for mental work</a:t>
                      </a:r>
                      <a:endParaRPr lang="en-US" sz="1350" dirty="0">
                        <a:latin typeface="Calibri" charset="0"/>
                        <a:ea typeface="Calibri" charset="0"/>
                        <a:cs typeface="Calibri" charset="0"/>
                      </a:endParaRPr>
                    </a:p>
                  </a:txBody>
                  <a:tcPr marL="76200" marR="76200" marT="50800" marB="50800"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E7F0F3"/>
                    </a:solidFill>
                  </a:tcPr>
                </a:tc>
              </a:tr>
              <a:tr h="340614">
                <a:tc>
                  <a:txBody>
                    <a:bodyPr/>
                    <a:lstStyle/>
                    <a:p>
                      <a:pPr algn="l" indent="0" marL="0">
                        <a:buNone/>
                      </a:pPr>
                      <a:r>
                        <a:rPr lang="en-US" sz="1350" b="1" dirty="0">
                          <a:solidFill>
                            <a:srgbClr val="243746"/>
                          </a:solidFill>
                          <a:latin typeface="Calibri" pitchFamily="34" charset="0"/>
                          <a:ea typeface="Calibri" pitchFamily="34" charset="-122"/>
                          <a:cs typeface="Calibri" pitchFamily="34" charset="-120"/>
                        </a:rPr>
                        <a:t>Interview</a:t>
                      </a:r>
                      <a:endParaRPr lang="en-US" sz="1350" dirty="0">
                        <a:latin typeface="Calibri" charset="0"/>
                        <a:ea typeface="Calibri" charset="0"/>
                        <a:cs typeface="Calibri" charset="0"/>
                      </a:endParaRPr>
                    </a:p>
                  </a:txBody>
                  <a:tcPr marL="76200" marR="76200" marT="50800" marB="50800"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43746"/>
                          </a:solidFill>
                          <a:latin typeface="Calibri" pitchFamily="34" charset="0"/>
                          <a:ea typeface="Calibri" pitchFamily="34" charset="-122"/>
                          <a:cs typeface="Calibri" pitchFamily="34" charset="-120"/>
                        </a:rPr>
                        <a:t>Talk with holders, managers</a:t>
                      </a:r>
                      <a:endParaRPr lang="en-US" sz="1350" dirty="0">
                        <a:latin typeface="Calibri" charset="0"/>
                        <a:ea typeface="Calibri" charset="0"/>
                        <a:cs typeface="Calibri" charset="0"/>
                      </a:endParaRPr>
                    </a:p>
                  </a:txBody>
                  <a:tcPr marL="76200" marR="76200" marT="50800" marB="50800"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43746"/>
                          </a:solidFill>
                          <a:latin typeface="Calibri" pitchFamily="34" charset="0"/>
                          <a:ea typeface="Calibri" pitchFamily="34" charset="-122"/>
                          <a:cs typeface="Calibri" pitchFamily="34" charset="-120"/>
                        </a:rPr>
                        <a:t>In-depth on duties</a:t>
                      </a:r>
                      <a:endParaRPr lang="en-US" sz="1350" dirty="0">
                        <a:latin typeface="Calibri" charset="0"/>
                        <a:ea typeface="Calibri" charset="0"/>
                        <a:cs typeface="Calibri" charset="0"/>
                      </a:endParaRPr>
                    </a:p>
                  </a:txBody>
                  <a:tcPr marL="76200" marR="76200" marT="50800" marB="50800"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43746"/>
                          </a:solidFill>
                          <a:latin typeface="Calibri" pitchFamily="34" charset="0"/>
                          <a:ea typeface="Calibri" pitchFamily="34" charset="-122"/>
                          <a:cs typeface="Calibri" pitchFamily="34" charset="-120"/>
                        </a:rPr>
                        <a:t>Slow; interviewer bias</a:t>
                      </a:r>
                      <a:endParaRPr lang="en-US" sz="1350" dirty="0">
                        <a:latin typeface="Calibri" charset="0"/>
                        <a:ea typeface="Calibri" charset="0"/>
                        <a:cs typeface="Calibri" charset="0"/>
                      </a:endParaRPr>
                    </a:p>
                  </a:txBody>
                  <a:tcPr marL="76200" marR="76200" marT="50800" marB="50800"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r>
              <a:tr h="340614">
                <a:tc>
                  <a:txBody>
                    <a:bodyPr/>
                    <a:lstStyle/>
                    <a:p>
                      <a:pPr algn="l" indent="0" marL="0">
                        <a:buNone/>
                      </a:pPr>
                      <a:r>
                        <a:rPr lang="en-US" sz="1350" b="1" dirty="0">
                          <a:solidFill>
                            <a:srgbClr val="243746"/>
                          </a:solidFill>
                          <a:latin typeface="Calibri" pitchFamily="34" charset="0"/>
                          <a:ea typeface="Calibri" pitchFamily="34" charset="-122"/>
                          <a:cs typeface="Calibri" pitchFamily="34" charset="-120"/>
                        </a:rPr>
                        <a:t>Questionnaire</a:t>
                      </a:r>
                      <a:endParaRPr lang="en-US" sz="1350" dirty="0">
                        <a:latin typeface="Calibri" charset="0"/>
                        <a:ea typeface="Calibri" charset="0"/>
                        <a:cs typeface="Calibri" charset="0"/>
                      </a:endParaRPr>
                    </a:p>
                  </a:txBody>
                  <a:tcPr marL="76200" marR="76200" marT="50800" marB="50800"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E7F0F3"/>
                    </a:solidFill>
                  </a:tcPr>
                </a:tc>
                <a:tc>
                  <a:txBody>
                    <a:bodyPr/>
                    <a:lstStyle/>
                    <a:p>
                      <a:pPr algn="l" indent="0" marL="0">
                        <a:buNone/>
                      </a:pPr>
                      <a:r>
                        <a:rPr lang="en-US" sz="1350" dirty="0">
                          <a:solidFill>
                            <a:srgbClr val="243746"/>
                          </a:solidFill>
                          <a:latin typeface="Calibri" pitchFamily="34" charset="0"/>
                          <a:ea typeface="Calibri" pitchFamily="34" charset="-122"/>
                          <a:cs typeface="Calibri" pitchFamily="34" charset="-120"/>
                        </a:rPr>
                        <a:t>Structured survey</a:t>
                      </a:r>
                      <a:endParaRPr lang="en-US" sz="1350" dirty="0">
                        <a:latin typeface="Calibri" charset="0"/>
                        <a:ea typeface="Calibri" charset="0"/>
                        <a:cs typeface="Calibri" charset="0"/>
                      </a:endParaRPr>
                    </a:p>
                  </a:txBody>
                  <a:tcPr marL="76200" marR="76200" marT="50800" marB="50800"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E7F0F3"/>
                    </a:solidFill>
                  </a:tcPr>
                </a:tc>
                <a:tc>
                  <a:txBody>
                    <a:bodyPr/>
                    <a:lstStyle/>
                    <a:p>
                      <a:pPr algn="l" indent="0" marL="0">
                        <a:buNone/>
                      </a:pPr>
                      <a:r>
                        <a:rPr lang="en-US" sz="1350" dirty="0">
                          <a:solidFill>
                            <a:srgbClr val="243746"/>
                          </a:solidFill>
                          <a:latin typeface="Calibri" pitchFamily="34" charset="0"/>
                          <a:ea typeface="Calibri" pitchFamily="34" charset="-122"/>
                          <a:cs typeface="Calibri" pitchFamily="34" charset="-120"/>
                        </a:rPr>
                        <a:t>Wide reach; easy stats</a:t>
                      </a:r>
                      <a:endParaRPr lang="en-US" sz="1350" dirty="0">
                        <a:latin typeface="Calibri" charset="0"/>
                        <a:ea typeface="Calibri" charset="0"/>
                        <a:cs typeface="Calibri" charset="0"/>
                      </a:endParaRPr>
                    </a:p>
                  </a:txBody>
                  <a:tcPr marL="76200" marR="76200" marT="50800" marB="50800"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E7F0F3"/>
                    </a:solidFill>
                  </a:tcPr>
                </a:tc>
                <a:tc>
                  <a:txBody>
                    <a:bodyPr/>
                    <a:lstStyle/>
                    <a:p>
                      <a:pPr algn="l" indent="0" marL="0">
                        <a:buNone/>
                      </a:pPr>
                      <a:r>
                        <a:rPr lang="en-US" sz="1350" dirty="0">
                          <a:solidFill>
                            <a:srgbClr val="243746"/>
                          </a:solidFill>
                          <a:latin typeface="Calibri" pitchFamily="34" charset="0"/>
                          <a:ea typeface="Calibri" pitchFamily="34" charset="-122"/>
                          <a:cs typeface="Calibri" pitchFamily="34" charset="-120"/>
                        </a:rPr>
                        <a:t>Hard to design</a:t>
                      </a:r>
                      <a:endParaRPr lang="en-US" sz="1350" dirty="0">
                        <a:latin typeface="Calibri" charset="0"/>
                        <a:ea typeface="Calibri" charset="0"/>
                        <a:cs typeface="Calibri" charset="0"/>
                      </a:endParaRPr>
                    </a:p>
                  </a:txBody>
                  <a:tcPr marL="76200" marR="76200" marT="50800" marB="50800"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E7F0F3"/>
                    </a:solidFill>
                  </a:tcPr>
                </a:tc>
              </a:tr>
              <a:tr h="340614">
                <a:tc>
                  <a:txBody>
                    <a:bodyPr/>
                    <a:lstStyle/>
                    <a:p>
                      <a:pPr algn="l" indent="0" marL="0">
                        <a:buNone/>
                      </a:pPr>
                      <a:r>
                        <a:rPr lang="en-US" sz="1350" b="1" dirty="0">
                          <a:solidFill>
                            <a:srgbClr val="243746"/>
                          </a:solidFill>
                          <a:latin typeface="Calibri" pitchFamily="34" charset="0"/>
                          <a:ea typeface="Calibri" pitchFamily="34" charset="-122"/>
                          <a:cs typeface="Calibri" pitchFamily="34" charset="-120"/>
                        </a:rPr>
                        <a:t>Work diary</a:t>
                      </a:r>
                      <a:endParaRPr lang="en-US" sz="1350" dirty="0">
                        <a:latin typeface="Calibri" charset="0"/>
                        <a:ea typeface="Calibri" charset="0"/>
                        <a:cs typeface="Calibri" charset="0"/>
                      </a:endParaRPr>
                    </a:p>
                  </a:txBody>
                  <a:tcPr marL="76200" marR="76200" marT="50800" marB="50800"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43746"/>
                          </a:solidFill>
                          <a:latin typeface="Calibri" pitchFamily="34" charset="0"/>
                          <a:ea typeface="Calibri" pitchFamily="34" charset="-122"/>
                          <a:cs typeface="Calibri" pitchFamily="34" charset="-120"/>
                        </a:rPr>
                        <a:t>Holders log activities</a:t>
                      </a:r>
                      <a:endParaRPr lang="en-US" sz="1350" dirty="0">
                        <a:latin typeface="Calibri" charset="0"/>
                        <a:ea typeface="Calibri" charset="0"/>
                        <a:cs typeface="Calibri" charset="0"/>
                      </a:endParaRPr>
                    </a:p>
                  </a:txBody>
                  <a:tcPr marL="76200" marR="76200" marT="50800" marB="50800"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43746"/>
                          </a:solidFill>
                          <a:latin typeface="Calibri" pitchFamily="34" charset="0"/>
                          <a:ea typeface="Calibri" pitchFamily="34" charset="-122"/>
                          <a:cs typeface="Calibri" pitchFamily="34" charset="-120"/>
                        </a:rPr>
                        <a:t>Detailed, continuous</a:t>
                      </a:r>
                      <a:endParaRPr lang="en-US" sz="1350" dirty="0">
                        <a:latin typeface="Calibri" charset="0"/>
                        <a:ea typeface="Calibri" charset="0"/>
                        <a:cs typeface="Calibri" charset="0"/>
                      </a:endParaRPr>
                    </a:p>
                  </a:txBody>
                  <a:tcPr marL="76200" marR="76200" marT="50800" marB="50800"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43746"/>
                          </a:solidFill>
                          <a:latin typeface="Calibri" pitchFamily="34" charset="0"/>
                          <a:ea typeface="Calibri" pitchFamily="34" charset="-122"/>
                          <a:cs typeface="Calibri" pitchFamily="34" charset="-120"/>
                        </a:rPr>
                        <a:t>Extra workload; gaps</a:t>
                      </a:r>
                      <a:endParaRPr lang="en-US" sz="1350" dirty="0">
                        <a:latin typeface="Calibri" charset="0"/>
                        <a:ea typeface="Calibri" charset="0"/>
                        <a:cs typeface="Calibri" charset="0"/>
                      </a:endParaRPr>
                    </a:p>
                  </a:txBody>
                  <a:tcPr marL="76200" marR="76200" marT="50800" marB="50800" anchor="ctr">
                    <a:lnL w="9525" cap="flat" cmpd="sng" algn="ctr">
                      <a:solidFill>
                        <a:srgbClr val="D3DDE2"/>
                      </a:solidFill>
                      <a:prstDash val="solid"/>
                      <a:round/>
                      <a:headEnd type="none" w="med" len="med"/>
                      <a:tailEnd type="none" w="med" len="med"/>
                    </a:lnL>
                    <a:lnR w="9525" cap="flat" cmpd="sng" algn="ctr">
                      <a:solidFill>
                        <a:srgbClr val="D3DDE2"/>
                      </a:solidFill>
                      <a:prstDash val="solid"/>
                      <a:round/>
                      <a:headEnd type="none" w="med" len="med"/>
                      <a:tailEnd type="none" w="med" len="med"/>
                    </a:lnR>
                    <a:lnT w="9525" cap="flat" cmpd="sng" algn="ctr">
                      <a:solidFill>
                        <a:srgbClr val="D3DDE2"/>
                      </a:solidFill>
                      <a:prstDash val="solid"/>
                      <a:round/>
                      <a:headEnd type="none" w="med" len="med"/>
                      <a:tailEnd type="none" w="med" len="med"/>
                    </a:lnT>
                    <a:lnB w="9525" cap="flat" cmpd="sng" algn="ctr">
                      <a:solidFill>
                        <a:srgbClr val="D3DDE2"/>
                      </a:solidFill>
                      <a:prstDash val="solid"/>
                      <a:round/>
                      <a:headEnd type="none" w="med" len="med"/>
                      <a:tailEnd type="none" w="med" len="med"/>
                    </a:lnB>
                    <a:solidFill>
                      <a:srgbClr val="FFFFFF"/>
                    </a:solidFill>
                  </a:tcPr>
                </a:tc>
              </a:tr>
            </a:tbl>
          </a:graphicData>
        </a:graphic>
      </p:graphicFrame>
      <p:sp>
        <p:nvSpPr>
          <p:cNvPr id="6" name="note"/>
          <p:cNvSpPr/>
          <p:nvPr/>
        </p:nvSpPr>
        <p:spPr>
          <a:xfrm>
            <a:off x="457200" y="3208020"/>
            <a:ext cx="8229600" cy="518160"/>
          </a:xfrm>
          <a:prstGeom prst="rect">
            <a:avLst/>
          </a:prstGeom>
          <a:solidFill>
            <a:srgbClr val="E7F0F3"/>
          </a:solidFill>
          <a:ln w="12700">
            <a:solidFill>
              <a:srgbClr val="FFFFFF">
                <a:alpha val="0"/>
              </a:srgbClr>
            </a:solidFill>
            <a:prstDash val="solid"/>
          </a:ln>
        </p:spPr>
      </p:sp>
      <p:sp>
        <p:nvSpPr>
          <p:cNvPr id="7" name="note-bar"/>
          <p:cNvSpPr/>
          <p:nvPr/>
        </p:nvSpPr>
        <p:spPr>
          <a:xfrm>
            <a:off x="457200" y="3208020"/>
            <a:ext cx="57150" cy="518160"/>
          </a:xfrm>
          <a:prstGeom prst="rect">
            <a:avLst/>
          </a:prstGeom>
          <a:solidFill>
            <a:srgbClr val="167A85"/>
          </a:solidFill>
          <a:ln w="12700">
            <a:solidFill>
              <a:srgbClr val="FFFFFF">
                <a:alpha val="0"/>
              </a:srgbClr>
            </a:solidFill>
            <a:prstDash val="solid"/>
          </a:ln>
        </p:spPr>
      </p:sp>
      <p:sp>
        <p:nvSpPr>
          <p:cNvPr id="8" name="note-text"/>
          <p:cNvSpPr/>
          <p:nvPr/>
        </p:nvSpPr>
        <p:spPr>
          <a:xfrm>
            <a:off x="647700" y="3341370"/>
            <a:ext cx="7886700" cy="25146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500" b="1" dirty="0">
                <a:solidFill>
                  <a:srgbClr val="2F5D7C"/>
                </a:solidFill>
                <a:latin typeface="Calibri" pitchFamily="34" charset="0"/>
                <a:ea typeface="Calibri" pitchFamily="34" charset="-122"/>
                <a:cs typeface="Calibri" pitchFamily="34" charset="-120"/>
              </a:rPr>
              <a:t>In practice, combine several methods so they confirm each other</a:t>
            </a:r>
            <a:endParaRPr lang="en-US" sz="1500" dirty="0"/>
          </a:p>
        </p:txBody>
      </p:sp>
      <p:sp>
        <p:nvSpPr>
          <p:cNvPr id="9" name="page-number"/>
          <p:cNvSpPr/>
          <p:nvPr/>
        </p:nvSpPr>
        <p:spPr>
          <a:xfrm>
            <a:off x="8115300" y="4629150"/>
            <a:ext cx="571500" cy="209550"/>
          </a:xfrm>
          <a:prstGeom prst="rect">
            <a:avLst/>
          </a:prstGeom>
          <a:solidFill>
            <a:srgbClr val="FFFFFF">
              <a:alpha val="0"/>
            </a:srgbClr>
          </a:solidFill>
          <a:ln>
            <a:solidFill>
              <a:srgbClr val="FFFFFF">
                <a:alpha val="0"/>
              </a:srgbClr>
            </a:solidFill>
          </a:ln>
        </p:spPr>
        <p:txBody>
          <a:bodyPr wrap="square" lIns="0" tIns="0" rIns="0" bIns="0" rtlCol="0" anchor="ctr"/>
          <a:lstStyle/>
          <a:p>
            <a:pPr algn="r" indent="0" marL="0">
              <a:buNone/>
            </a:pPr>
            <a:r>
              <a:rPr lang="en-US" sz="1050" dirty="0">
                <a:solidFill>
                  <a:srgbClr val="5E6E78"/>
                </a:solidFill>
                <a:latin typeface="Calibri" pitchFamily="34" charset="0"/>
                <a:ea typeface="Calibri" pitchFamily="34" charset="-122"/>
                <a:cs typeface="Calibri" pitchFamily="34" charset="-120"/>
              </a:rPr>
              <a:t>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F5D7C"/>
        </a:solidFill>
      </p:bgPr>
    </p:bg>
    <p:spTree>
      <p:nvGrpSpPr>
        <p:cNvPr id="1" name=""/>
        <p:cNvGrpSpPr/>
        <p:nvPr/>
      </p:nvGrpSpPr>
      <p:grpSpPr>
        <a:xfrm>
          <a:off x="0" y="0"/>
          <a:ext cx="0" cy="0"/>
          <a:chOff x="0" y="0"/>
          <a:chExt cx="0" cy="0"/>
        </a:xfrm>
      </p:grpSpPr>
      <p:sp>
        <p:nvSpPr>
          <p:cNvPr id="2" name="number"/>
          <p:cNvSpPr/>
          <p:nvPr/>
        </p:nvSpPr>
        <p:spPr>
          <a:xfrm>
            <a:off x="876300" y="1916811"/>
            <a:ext cx="7810500" cy="762000"/>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4800" b="1" dirty="0">
                <a:solidFill>
                  <a:srgbClr val="BFD4DE"/>
                </a:solidFill>
                <a:latin typeface="Calibri" pitchFamily="34" charset="0"/>
                <a:ea typeface="Calibri" pitchFamily="34" charset="-122"/>
                <a:cs typeface="Calibri" pitchFamily="34" charset="-120"/>
              </a:rPr>
              <a:t>04</a:t>
            </a:r>
            <a:endParaRPr lang="en-US" sz="4800" dirty="0"/>
          </a:p>
        </p:txBody>
      </p:sp>
      <p:sp>
        <p:nvSpPr>
          <p:cNvPr id="3" name="title"/>
          <p:cNvSpPr/>
          <p:nvPr/>
        </p:nvSpPr>
        <p:spPr>
          <a:xfrm>
            <a:off x="876300" y="2774061"/>
            <a:ext cx="7810500" cy="452628"/>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2700" b="1" dirty="0">
                <a:solidFill>
                  <a:srgbClr val="FFFFFF"/>
                </a:solidFill>
                <a:latin typeface="Calibri" pitchFamily="34" charset="0"/>
                <a:ea typeface="Calibri" pitchFamily="34" charset="-122"/>
                <a:cs typeface="Calibri" pitchFamily="34" charset="-120"/>
              </a:rPr>
              <a:t>Job description and specification</a:t>
            </a:r>
            <a:endParaRPr lang="en-US" sz="2700" dirty="0"/>
          </a:p>
        </p:txBody>
      </p:sp>
      <p:sp>
        <p:nvSpPr>
          <p:cNvPr id="4" name="title-accent"/>
          <p:cNvSpPr/>
          <p:nvPr/>
        </p:nvSpPr>
        <p:spPr>
          <a:xfrm>
            <a:off x="876300" y="3360039"/>
            <a:ext cx="762000" cy="38100"/>
          </a:xfrm>
          <a:prstGeom prst="rect">
            <a:avLst/>
          </a:prstGeom>
          <a:solidFill>
            <a:srgbClr val="BFD4DE"/>
          </a:solidFill>
          <a:ln w="12700">
            <a:solidFill>
              <a:srgbClr val="FFFFFF">
                <a:alpha val="0"/>
              </a:srgbClr>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p:bgPr>
    </p:bg>
    <p:spTree>
      <p:nvGrpSpPr>
        <p:cNvPr id="1" name=""/>
        <p:cNvGrpSpPr/>
        <p:nvPr/>
      </p:nvGrpSpPr>
      <p:grpSpPr>
        <a:xfrm>
          <a:off x="0" y="0"/>
          <a:ext cx="0" cy="0"/>
          <a:chOff x="0" y="0"/>
          <a:chExt cx="0" cy="0"/>
        </a:xfrm>
      </p:grpSpPr>
      <p:sp>
        <p:nvSpPr>
          <p:cNvPr id="2" name="heading"/>
          <p:cNvSpPr/>
          <p:nvPr/>
        </p:nvSpPr>
        <p:spPr>
          <a:xfrm>
            <a:off x="457200" y="228600"/>
            <a:ext cx="8229600" cy="381000"/>
          </a:xfrm>
          <a:prstGeom prst="rect">
            <a:avLst/>
          </a:prstGeom>
          <a:solidFill>
            <a:srgbClr val="FFFFFF">
              <a:alpha val="0"/>
            </a:srgbClr>
          </a:solidFill>
          <a:ln>
            <a:solidFill>
              <a:srgbClr val="FFFFFF">
                <a:alpha val="0"/>
              </a:srgbClr>
            </a:solidFill>
          </a:ln>
        </p:spPr>
        <p:txBody>
          <a:bodyPr wrap="square" lIns="0" tIns="0" rIns="0" bIns="0" rtlCol="0" anchor="b"/>
          <a:lstStyle/>
          <a:p>
            <a:pPr algn="l" indent="0" marL="0">
              <a:buNone/>
            </a:pPr>
            <a:r>
              <a:rPr lang="en-US" sz="2100" b="1" dirty="0">
                <a:solidFill>
                  <a:srgbClr val="2F5D7C"/>
                </a:solidFill>
                <a:latin typeface="Calibri" pitchFamily="34" charset="0"/>
                <a:ea typeface="Calibri" pitchFamily="34" charset="-122"/>
                <a:cs typeface="Calibri" pitchFamily="34" charset="-120"/>
              </a:rPr>
              <a:t>04 Job description and specification</a:t>
            </a:r>
            <a:endParaRPr lang="en-US" sz="2100" dirty="0"/>
          </a:p>
        </p:txBody>
      </p:sp>
      <p:sp>
        <p:nvSpPr>
          <p:cNvPr id="3" name="title-rule"/>
          <p:cNvSpPr/>
          <p:nvPr/>
        </p:nvSpPr>
        <p:spPr>
          <a:xfrm>
            <a:off x="457200" y="685800"/>
            <a:ext cx="8229600" cy="14288"/>
          </a:xfrm>
          <a:prstGeom prst="rect">
            <a:avLst/>
          </a:prstGeom>
          <a:solidFill>
            <a:srgbClr val="A3B1B9"/>
          </a:solidFill>
          <a:ln w="12700">
            <a:solidFill>
              <a:srgbClr val="FFFFFF">
                <a:alpha val="0"/>
              </a:srgbClr>
            </a:solidFill>
            <a:prstDash val="solid"/>
          </a:ln>
        </p:spPr>
      </p:sp>
      <p:sp>
        <p:nvSpPr>
          <p:cNvPr id="4" name="topic"/>
          <p:cNvSpPr/>
          <p:nvPr/>
        </p:nvSpPr>
        <p:spPr>
          <a:xfrm>
            <a:off x="457200" y="800100"/>
            <a:ext cx="8229600" cy="34290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650" b="1" dirty="0">
                <a:solidFill>
                  <a:srgbClr val="243746"/>
                </a:solidFill>
                <a:latin typeface="Calibri" pitchFamily="34" charset="0"/>
                <a:ea typeface="Calibri" pitchFamily="34" charset="-122"/>
                <a:cs typeface="Calibri" pitchFamily="34" charset="-120"/>
              </a:rPr>
              <a:t>Two parts of the result</a:t>
            </a:r>
            <a:endParaRPr lang="en-US" sz="1650" dirty="0"/>
          </a:p>
        </p:txBody>
      </p:sp>
      <p:sp>
        <p:nvSpPr>
          <p:cNvPr id="5" name="column-1"/>
          <p:cNvSpPr/>
          <p:nvPr/>
        </p:nvSpPr>
        <p:spPr>
          <a:xfrm>
            <a:off x="457200" y="1371600"/>
            <a:ext cx="4010025" cy="2095500"/>
          </a:xfrm>
          <a:prstGeom prst="rect">
            <a:avLst/>
          </a:prstGeom>
          <a:solidFill>
            <a:srgbClr val="FFFFFF"/>
          </a:solidFill>
          <a:ln w="9525">
            <a:solidFill>
              <a:srgbClr val="D3DDE2"/>
            </a:solidFill>
            <a:prstDash val="solid"/>
          </a:ln>
        </p:spPr>
      </p:sp>
      <p:sp>
        <p:nvSpPr>
          <p:cNvPr id="6" name="column-1-title"/>
          <p:cNvSpPr/>
          <p:nvPr/>
        </p:nvSpPr>
        <p:spPr>
          <a:xfrm>
            <a:off x="457200" y="1371600"/>
            <a:ext cx="4010025" cy="438150"/>
          </a:xfrm>
          <a:prstGeom prst="rect">
            <a:avLst/>
          </a:prstGeom>
          <a:solidFill>
            <a:srgbClr val="2F5D7C"/>
          </a:solidFill>
          <a:ln>
            <a:solidFill>
              <a:srgbClr val="FFFFFF">
                <a:alpha val="0"/>
              </a:srgbClr>
            </a:solidFill>
          </a:ln>
        </p:spPr>
        <p:txBody>
          <a:bodyPr wrap="square" lIns="0" tIns="0" rIns="0" bIns="0" rtlCol="0" anchor="ctr"/>
          <a:lstStyle/>
          <a:p>
            <a:pPr algn="ctr" indent="0" marL="0">
              <a:buNone/>
            </a:pPr>
            <a:r>
              <a:rPr lang="en-US" sz="1575" b="1" dirty="0">
                <a:solidFill>
                  <a:srgbClr val="FFFFFF"/>
                </a:solidFill>
                <a:latin typeface="Calibri" pitchFamily="34" charset="0"/>
                <a:ea typeface="Calibri" pitchFamily="34" charset="-122"/>
                <a:cs typeface="Calibri" pitchFamily="34" charset="-120"/>
              </a:rPr>
              <a:t>Job description: what is the job?</a:t>
            </a:r>
            <a:endParaRPr lang="en-US" sz="1575" dirty="0"/>
          </a:p>
        </p:txBody>
      </p:sp>
      <p:sp>
        <p:nvSpPr>
          <p:cNvPr id="7" name="column-1-points"/>
          <p:cNvSpPr/>
          <p:nvPr/>
        </p:nvSpPr>
        <p:spPr>
          <a:xfrm>
            <a:off x="609600" y="1962150"/>
            <a:ext cx="3705225" cy="1352550"/>
          </a:xfrm>
          <a:prstGeom prst="rect">
            <a:avLst/>
          </a:prstGeom>
          <a:solidFill>
            <a:srgbClr val="FFFFFF">
              <a:alpha val="0"/>
            </a:srgbClr>
          </a:solidFill>
          <a:ln>
            <a:solidFill>
              <a:srgbClr val="FFFFFF">
                <a:alpha val="0"/>
              </a:srgbClr>
            </a:solidFill>
          </a:ln>
        </p:spPr>
        <p:txBody>
          <a:bodyPr wrap="square" lIns="0" tIns="0" rIns="0" bIns="0" rtlCol="0" anchor="t"/>
          <a:lstStyle/>
          <a:p>
            <a:pPr algn="l" marL="228600" indent="-228600">
              <a:spcAft>
                <a:spcPts val="600"/>
              </a:spcAft>
              <a:buSzPct val="100000"/>
              <a:buChar char="•"/>
            </a:pPr>
            <a:r>
              <a:rPr lang="en-US" sz="1425" dirty="0">
                <a:solidFill>
                  <a:srgbClr val="243746"/>
                </a:solidFill>
                <a:latin typeface="Calibri" pitchFamily="34" charset="0"/>
                <a:ea typeface="Calibri" pitchFamily="34" charset="-122"/>
                <a:cs typeface="Calibri" pitchFamily="34" charset="-120"/>
              </a:rPr>
              <a:t>Job title and department</a:t>
            </a:r>
            <a:endParaRPr lang="en-US" sz="1425" dirty="0"/>
          </a:p>
          <a:p>
            <a:pPr algn="l" marL="228600" indent="-228600">
              <a:spcAft>
                <a:spcPts val="600"/>
              </a:spcAft>
              <a:buSzPct val="100000"/>
              <a:buChar char="•"/>
            </a:pPr>
            <a:r>
              <a:rPr lang="en-US" sz="1425" dirty="0">
                <a:solidFill>
                  <a:srgbClr val="243746"/>
                </a:solidFill>
                <a:latin typeface="Calibri" pitchFamily="34" charset="0"/>
                <a:ea typeface="Calibri" pitchFamily="34" charset="-122"/>
                <a:cs typeface="Calibri" pitchFamily="34" charset="-120"/>
              </a:rPr>
              <a:t>Duties and main tasks</a:t>
            </a:r>
            <a:endParaRPr lang="en-US" sz="1425" dirty="0"/>
          </a:p>
          <a:p>
            <a:pPr algn="l" marL="228600" indent="-228600">
              <a:spcAft>
                <a:spcPts val="600"/>
              </a:spcAft>
              <a:buSzPct val="100000"/>
              <a:buChar char="•"/>
            </a:pPr>
            <a:r>
              <a:rPr lang="en-US" sz="1425" dirty="0">
                <a:solidFill>
                  <a:srgbClr val="243746"/>
                </a:solidFill>
                <a:latin typeface="Calibri" pitchFamily="34" charset="0"/>
                <a:ea typeface="Calibri" pitchFamily="34" charset="-122"/>
                <a:cs typeface="Calibri" pitchFamily="34" charset="-120"/>
              </a:rPr>
              <a:t>Working conditions</a:t>
            </a:r>
            <a:endParaRPr lang="en-US" sz="1425" dirty="0"/>
          </a:p>
          <a:p>
            <a:pPr algn="l" marL="228600" indent="-228600">
              <a:spcAft>
                <a:spcPts val="600"/>
              </a:spcAft>
              <a:buSzPct val="100000"/>
              <a:buChar char="•"/>
            </a:pPr>
            <a:r>
              <a:rPr lang="en-US" sz="1425" dirty="0">
                <a:solidFill>
                  <a:srgbClr val="243746"/>
                </a:solidFill>
                <a:latin typeface="Calibri" pitchFamily="34" charset="0"/>
                <a:ea typeface="Calibri" pitchFamily="34" charset="-122"/>
                <a:cs typeface="Calibri" pitchFamily="34" charset="-120"/>
              </a:rPr>
              <a:t>Reporting relationships</a:t>
            </a:r>
            <a:endParaRPr lang="en-US" sz="1425" dirty="0"/>
          </a:p>
        </p:txBody>
      </p:sp>
      <p:sp>
        <p:nvSpPr>
          <p:cNvPr id="8" name="column-2"/>
          <p:cNvSpPr/>
          <p:nvPr/>
        </p:nvSpPr>
        <p:spPr>
          <a:xfrm>
            <a:off x="4676775" y="1371600"/>
            <a:ext cx="4010025" cy="2095500"/>
          </a:xfrm>
          <a:prstGeom prst="rect">
            <a:avLst/>
          </a:prstGeom>
          <a:solidFill>
            <a:srgbClr val="FFFFFF"/>
          </a:solidFill>
          <a:ln w="9525">
            <a:solidFill>
              <a:srgbClr val="D3DDE2"/>
            </a:solidFill>
            <a:prstDash val="solid"/>
          </a:ln>
        </p:spPr>
      </p:sp>
      <p:sp>
        <p:nvSpPr>
          <p:cNvPr id="9" name="column-2-title"/>
          <p:cNvSpPr/>
          <p:nvPr/>
        </p:nvSpPr>
        <p:spPr>
          <a:xfrm>
            <a:off x="4676775" y="1371600"/>
            <a:ext cx="4010025" cy="438150"/>
          </a:xfrm>
          <a:prstGeom prst="rect">
            <a:avLst/>
          </a:prstGeom>
          <a:solidFill>
            <a:srgbClr val="167A85"/>
          </a:solidFill>
          <a:ln>
            <a:solidFill>
              <a:srgbClr val="FFFFFF">
                <a:alpha val="0"/>
              </a:srgbClr>
            </a:solidFill>
          </a:ln>
        </p:spPr>
        <p:txBody>
          <a:bodyPr wrap="square" lIns="0" tIns="0" rIns="0" bIns="0" rtlCol="0" anchor="ctr"/>
          <a:lstStyle/>
          <a:p>
            <a:pPr algn="ctr" indent="0" marL="0">
              <a:buNone/>
            </a:pPr>
            <a:r>
              <a:rPr lang="en-US" sz="1575" b="1" dirty="0">
                <a:solidFill>
                  <a:srgbClr val="FFFFFF"/>
                </a:solidFill>
                <a:latin typeface="Calibri" pitchFamily="34" charset="0"/>
                <a:ea typeface="Calibri" pitchFamily="34" charset="-122"/>
                <a:cs typeface="Calibri" pitchFamily="34" charset="-120"/>
              </a:rPr>
              <a:t>Job specification: who can do it well?</a:t>
            </a:r>
            <a:endParaRPr lang="en-US" sz="1575" dirty="0"/>
          </a:p>
        </p:txBody>
      </p:sp>
      <p:sp>
        <p:nvSpPr>
          <p:cNvPr id="10" name="column-2-points"/>
          <p:cNvSpPr/>
          <p:nvPr/>
        </p:nvSpPr>
        <p:spPr>
          <a:xfrm>
            <a:off x="4829175" y="1962150"/>
            <a:ext cx="3705225" cy="1352550"/>
          </a:xfrm>
          <a:prstGeom prst="rect">
            <a:avLst/>
          </a:prstGeom>
          <a:solidFill>
            <a:srgbClr val="FFFFFF">
              <a:alpha val="0"/>
            </a:srgbClr>
          </a:solidFill>
          <a:ln>
            <a:solidFill>
              <a:srgbClr val="FFFFFF">
                <a:alpha val="0"/>
              </a:srgbClr>
            </a:solidFill>
          </a:ln>
        </p:spPr>
        <p:txBody>
          <a:bodyPr wrap="square" lIns="0" tIns="0" rIns="0" bIns="0" rtlCol="0" anchor="t"/>
          <a:lstStyle/>
          <a:p>
            <a:pPr algn="l" marL="228600" indent="-228600">
              <a:spcAft>
                <a:spcPts val="600"/>
              </a:spcAft>
              <a:buSzPct val="100000"/>
              <a:buChar char="•"/>
            </a:pPr>
            <a:r>
              <a:rPr lang="en-US" sz="1425" dirty="0">
                <a:solidFill>
                  <a:srgbClr val="243746"/>
                </a:solidFill>
                <a:latin typeface="Calibri" pitchFamily="34" charset="0"/>
                <a:ea typeface="Calibri" pitchFamily="34" charset="-122"/>
                <a:cs typeface="Calibri" pitchFamily="34" charset="-120"/>
              </a:rPr>
              <a:t>Education and field of study</a:t>
            </a:r>
            <a:endParaRPr lang="en-US" sz="1425" dirty="0"/>
          </a:p>
          <a:p>
            <a:pPr algn="l" marL="228600" indent="-228600">
              <a:spcAft>
                <a:spcPts val="600"/>
              </a:spcAft>
              <a:buSzPct val="100000"/>
              <a:buChar char="•"/>
            </a:pPr>
            <a:r>
              <a:rPr lang="en-US" sz="1425" dirty="0">
                <a:solidFill>
                  <a:srgbClr val="243746"/>
                </a:solidFill>
                <a:latin typeface="Calibri" pitchFamily="34" charset="0"/>
                <a:ea typeface="Calibri" pitchFamily="34" charset="-122"/>
                <a:cs typeface="Calibri" pitchFamily="34" charset="-120"/>
              </a:rPr>
              <a:t>Knowledge and skills</a:t>
            </a:r>
            <a:endParaRPr lang="en-US" sz="1425" dirty="0"/>
          </a:p>
          <a:p>
            <a:pPr algn="l" marL="228600" indent="-228600">
              <a:spcAft>
                <a:spcPts val="600"/>
              </a:spcAft>
              <a:buSzPct val="100000"/>
              <a:buChar char="•"/>
            </a:pPr>
            <a:r>
              <a:rPr lang="en-US" sz="1425" dirty="0">
                <a:solidFill>
                  <a:srgbClr val="243746"/>
                </a:solidFill>
                <a:latin typeface="Calibri" pitchFamily="34" charset="0"/>
                <a:ea typeface="Calibri" pitchFamily="34" charset="-122"/>
                <a:cs typeface="Calibri" pitchFamily="34" charset="-120"/>
              </a:rPr>
              <a:t>Relevant experience</a:t>
            </a:r>
            <a:endParaRPr lang="en-US" sz="1425" dirty="0"/>
          </a:p>
          <a:p>
            <a:pPr algn="l" marL="228600" indent="-228600">
              <a:spcAft>
                <a:spcPts val="600"/>
              </a:spcAft>
              <a:buSzPct val="100000"/>
              <a:buChar char="•"/>
            </a:pPr>
            <a:r>
              <a:rPr lang="en-US" sz="1425" dirty="0">
                <a:solidFill>
                  <a:srgbClr val="243746"/>
                </a:solidFill>
                <a:latin typeface="Calibri" pitchFamily="34" charset="0"/>
                <a:ea typeface="Calibri" pitchFamily="34" charset="-122"/>
                <a:cs typeface="Calibri" pitchFamily="34" charset="-120"/>
              </a:rPr>
              <a:t>Abilities and personal qualities</a:t>
            </a:r>
            <a:endParaRPr lang="en-US" sz="1425" dirty="0"/>
          </a:p>
        </p:txBody>
      </p:sp>
      <p:sp>
        <p:nvSpPr>
          <p:cNvPr id="11" name="conclusion"/>
          <p:cNvSpPr/>
          <p:nvPr/>
        </p:nvSpPr>
        <p:spPr>
          <a:xfrm>
            <a:off x="457200" y="3996690"/>
            <a:ext cx="8229600" cy="518160"/>
          </a:xfrm>
          <a:prstGeom prst="rect">
            <a:avLst/>
          </a:prstGeom>
          <a:solidFill>
            <a:srgbClr val="E7F0F3"/>
          </a:solidFill>
          <a:ln w="12700">
            <a:solidFill>
              <a:srgbClr val="FFFFFF">
                <a:alpha val="0"/>
              </a:srgbClr>
            </a:solidFill>
            <a:prstDash val="solid"/>
          </a:ln>
        </p:spPr>
      </p:sp>
      <p:sp>
        <p:nvSpPr>
          <p:cNvPr id="12" name="conclusion-bar"/>
          <p:cNvSpPr/>
          <p:nvPr/>
        </p:nvSpPr>
        <p:spPr>
          <a:xfrm>
            <a:off x="457200" y="3996690"/>
            <a:ext cx="57150" cy="518160"/>
          </a:xfrm>
          <a:prstGeom prst="rect">
            <a:avLst/>
          </a:prstGeom>
          <a:solidFill>
            <a:srgbClr val="167A85"/>
          </a:solidFill>
          <a:ln w="12700">
            <a:solidFill>
              <a:srgbClr val="FFFFFF">
                <a:alpha val="0"/>
              </a:srgbClr>
            </a:solidFill>
            <a:prstDash val="solid"/>
          </a:ln>
        </p:spPr>
      </p:sp>
      <p:sp>
        <p:nvSpPr>
          <p:cNvPr id="13" name="conclusion-text"/>
          <p:cNvSpPr/>
          <p:nvPr/>
        </p:nvSpPr>
        <p:spPr>
          <a:xfrm>
            <a:off x="647700" y="4130040"/>
            <a:ext cx="7886700" cy="25146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500" b="1" dirty="0">
                <a:solidFill>
                  <a:srgbClr val="2F5D7C"/>
                </a:solidFill>
                <a:latin typeface="Calibri" pitchFamily="34" charset="0"/>
                <a:ea typeface="Calibri" pitchFamily="34" charset="-122"/>
                <a:cs typeface="Calibri" pitchFamily="34" charset="-120"/>
              </a:rPr>
              <a:t>The description is about the work; the specification is about the person</a:t>
            </a:r>
            <a:endParaRPr lang="en-US" sz="1500" dirty="0"/>
          </a:p>
        </p:txBody>
      </p:sp>
      <p:sp>
        <p:nvSpPr>
          <p:cNvPr id="14" name="page-number"/>
          <p:cNvSpPr/>
          <p:nvPr/>
        </p:nvSpPr>
        <p:spPr>
          <a:xfrm>
            <a:off x="8115300" y="4629150"/>
            <a:ext cx="571500" cy="209550"/>
          </a:xfrm>
          <a:prstGeom prst="rect">
            <a:avLst/>
          </a:prstGeom>
          <a:solidFill>
            <a:srgbClr val="FFFFFF">
              <a:alpha val="0"/>
            </a:srgbClr>
          </a:solidFill>
          <a:ln>
            <a:solidFill>
              <a:srgbClr val="FFFFFF">
                <a:alpha val="0"/>
              </a:srgbClr>
            </a:solidFill>
          </a:ln>
        </p:spPr>
        <p:txBody>
          <a:bodyPr wrap="square" lIns="0" tIns="0" rIns="0" bIns="0" rtlCol="0" anchor="ctr"/>
          <a:lstStyle/>
          <a:p>
            <a:pPr algn="r" indent="0" marL="0">
              <a:buNone/>
            </a:pPr>
            <a:r>
              <a:rPr lang="en-US" sz="1050" dirty="0">
                <a:solidFill>
                  <a:srgbClr val="5E6E78"/>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p:bgPr>
    </p:bg>
    <p:spTree>
      <p:nvGrpSpPr>
        <p:cNvPr id="1" name=""/>
        <p:cNvGrpSpPr/>
        <p:nvPr/>
      </p:nvGrpSpPr>
      <p:grpSpPr>
        <a:xfrm>
          <a:off x="0" y="0"/>
          <a:ext cx="0" cy="0"/>
          <a:chOff x="0" y="0"/>
          <a:chExt cx="0" cy="0"/>
        </a:xfrm>
      </p:grpSpPr>
      <p:sp>
        <p:nvSpPr>
          <p:cNvPr id="2" name="heading"/>
          <p:cNvSpPr/>
          <p:nvPr/>
        </p:nvSpPr>
        <p:spPr>
          <a:xfrm>
            <a:off x="457200" y="228600"/>
            <a:ext cx="8229600" cy="381000"/>
          </a:xfrm>
          <a:prstGeom prst="rect">
            <a:avLst/>
          </a:prstGeom>
          <a:solidFill>
            <a:srgbClr val="FFFFFF">
              <a:alpha val="0"/>
            </a:srgbClr>
          </a:solidFill>
          <a:ln>
            <a:solidFill>
              <a:srgbClr val="FFFFFF">
                <a:alpha val="0"/>
              </a:srgbClr>
            </a:solidFill>
          </a:ln>
        </p:spPr>
        <p:txBody>
          <a:bodyPr wrap="square" lIns="0" tIns="0" rIns="0" bIns="0" rtlCol="0" anchor="b"/>
          <a:lstStyle/>
          <a:p>
            <a:pPr algn="l" indent="0" marL="0">
              <a:buNone/>
            </a:pPr>
            <a:r>
              <a:rPr lang="en-US" sz="2100" b="1" dirty="0">
                <a:solidFill>
                  <a:srgbClr val="2F5D7C"/>
                </a:solidFill>
                <a:latin typeface="Calibri" pitchFamily="34" charset="0"/>
                <a:ea typeface="Calibri" pitchFamily="34" charset="-122"/>
                <a:cs typeface="Calibri" pitchFamily="34" charset="-120"/>
              </a:rPr>
              <a:t>Case discussion</a:t>
            </a:r>
            <a:endParaRPr lang="en-US" sz="2100" dirty="0"/>
          </a:p>
        </p:txBody>
      </p:sp>
      <p:sp>
        <p:nvSpPr>
          <p:cNvPr id="3" name="title-rule"/>
          <p:cNvSpPr/>
          <p:nvPr/>
        </p:nvSpPr>
        <p:spPr>
          <a:xfrm>
            <a:off x="457200" y="685800"/>
            <a:ext cx="8229600" cy="14288"/>
          </a:xfrm>
          <a:prstGeom prst="rect">
            <a:avLst/>
          </a:prstGeom>
          <a:solidFill>
            <a:srgbClr val="A3B1B9"/>
          </a:solidFill>
          <a:ln w="12700">
            <a:solidFill>
              <a:srgbClr val="FFFFFF">
                <a:alpha val="0"/>
              </a:srgbClr>
            </a:solidFill>
            <a:prstDash val="solid"/>
          </a:ln>
        </p:spPr>
      </p:sp>
      <p:sp>
        <p:nvSpPr>
          <p:cNvPr id="4" name="topic"/>
          <p:cNvSpPr/>
          <p:nvPr/>
        </p:nvSpPr>
        <p:spPr>
          <a:xfrm>
            <a:off x="457200" y="800100"/>
            <a:ext cx="8229600" cy="34290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650" b="1" dirty="0">
                <a:solidFill>
                  <a:srgbClr val="243746"/>
                </a:solidFill>
                <a:latin typeface="Calibri" pitchFamily="34" charset="0"/>
                <a:ea typeface="Calibri" pitchFamily="34" charset="-122"/>
                <a:cs typeface="Calibri" pitchFamily="34" charset="-120"/>
              </a:rPr>
              <a:t>Why the job description failed</a:t>
            </a:r>
            <a:endParaRPr lang="en-US" sz="1650" dirty="0"/>
          </a:p>
        </p:txBody>
      </p:sp>
      <p:sp>
        <p:nvSpPr>
          <p:cNvPr id="5" name="material-card"/>
          <p:cNvSpPr/>
          <p:nvPr/>
        </p:nvSpPr>
        <p:spPr>
          <a:xfrm>
            <a:off x="457200" y="1352550"/>
            <a:ext cx="8229600" cy="1325880"/>
          </a:xfrm>
          <a:prstGeom prst="rect">
            <a:avLst/>
          </a:prstGeom>
          <a:solidFill>
            <a:srgbClr val="E7F0F3"/>
          </a:solidFill>
          <a:ln w="12700">
            <a:solidFill>
              <a:srgbClr val="FFFFFF">
                <a:alpha val="0"/>
              </a:srgbClr>
            </a:solidFill>
            <a:prstDash val="solid"/>
          </a:ln>
        </p:spPr>
      </p:sp>
      <p:sp>
        <p:nvSpPr>
          <p:cNvPr id="6" name="material-bar"/>
          <p:cNvSpPr/>
          <p:nvPr/>
        </p:nvSpPr>
        <p:spPr>
          <a:xfrm>
            <a:off x="457200" y="1352550"/>
            <a:ext cx="57150" cy="1325880"/>
          </a:xfrm>
          <a:prstGeom prst="rect">
            <a:avLst/>
          </a:prstGeom>
          <a:solidFill>
            <a:srgbClr val="B5652B"/>
          </a:solidFill>
          <a:ln w="12700">
            <a:solidFill>
              <a:srgbClr val="FFFFFF">
                <a:alpha val="0"/>
              </a:srgbClr>
            </a:solidFill>
            <a:prstDash val="solid"/>
          </a:ln>
        </p:spPr>
      </p:sp>
      <p:sp>
        <p:nvSpPr>
          <p:cNvPr id="7" name="material-label"/>
          <p:cNvSpPr/>
          <p:nvPr/>
        </p:nvSpPr>
        <p:spPr>
          <a:xfrm>
            <a:off x="666750" y="1504950"/>
            <a:ext cx="7867650" cy="209550"/>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200" b="1" dirty="0">
                <a:solidFill>
                  <a:srgbClr val="B5652B"/>
                </a:solidFill>
                <a:latin typeface="Calibri" pitchFamily="34" charset="0"/>
                <a:ea typeface="Calibri" pitchFamily="34" charset="-122"/>
                <a:cs typeface="Calibri" pitchFamily="34" charset="-120"/>
              </a:rPr>
              <a:t>Case material</a:t>
            </a:r>
            <a:endParaRPr lang="en-US" sz="1200" dirty="0"/>
          </a:p>
        </p:txBody>
      </p:sp>
      <p:sp>
        <p:nvSpPr>
          <p:cNvPr id="8" name="material"/>
          <p:cNvSpPr/>
          <p:nvPr/>
        </p:nvSpPr>
        <p:spPr>
          <a:xfrm>
            <a:off x="666750" y="1771650"/>
            <a:ext cx="7867650" cy="754380"/>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500" dirty="0">
                <a:solidFill>
                  <a:srgbClr val="243746"/>
                </a:solidFill>
                <a:latin typeface="Calibri" pitchFamily="34" charset="0"/>
                <a:ea typeface="Calibri" pitchFamily="34" charset="-122"/>
                <a:cs typeface="Calibri" pitchFamily="34" charset="-120"/>
              </a:rPr>
              <a:t>A sales team's job descriptions are three years old. A new account manager spends half her time on data analysis and client follow-up, but her description only says "develop the market and meet sales targets". Her supervisor appraises her against it, and they disagree.</a:t>
            </a:r>
            <a:endParaRPr lang="en-US" sz="1500" dirty="0"/>
          </a:p>
        </p:txBody>
      </p:sp>
      <p:sp>
        <p:nvSpPr>
          <p:cNvPr id="9" name="questions-label"/>
          <p:cNvSpPr/>
          <p:nvPr/>
        </p:nvSpPr>
        <p:spPr>
          <a:xfrm>
            <a:off x="457200" y="2849880"/>
            <a:ext cx="4000500" cy="266700"/>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500" b="1" dirty="0">
                <a:solidFill>
                  <a:srgbClr val="167A85"/>
                </a:solidFill>
                <a:latin typeface="Calibri" pitchFamily="34" charset="0"/>
                <a:ea typeface="Calibri" pitchFamily="34" charset="-122"/>
                <a:cs typeface="Calibri" pitchFamily="34" charset="-120"/>
              </a:rPr>
              <a:t>Discussion</a:t>
            </a:r>
            <a:endParaRPr lang="en-US" sz="1500" dirty="0"/>
          </a:p>
        </p:txBody>
      </p:sp>
      <p:sp>
        <p:nvSpPr>
          <p:cNvPr id="10" name="questions"/>
          <p:cNvSpPr/>
          <p:nvPr/>
        </p:nvSpPr>
        <p:spPr>
          <a:xfrm>
            <a:off x="457200" y="3173730"/>
            <a:ext cx="4000500" cy="868680"/>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spcAft>
                <a:spcPts val="450"/>
              </a:spcAft>
              <a:buNone/>
            </a:pPr>
            <a:r>
              <a:rPr lang="en-US" sz="1500" dirty="0">
                <a:solidFill>
                  <a:srgbClr val="243746"/>
                </a:solidFill>
                <a:latin typeface="Calibri" pitchFamily="34" charset="0"/>
                <a:ea typeface="Calibri" pitchFamily="34" charset="-122"/>
                <a:cs typeface="Calibri" pitchFamily="34" charset="-120"/>
              </a:rPr>
              <a:t>1. What is wrong with this job description?</a:t>
            </a:r>
            <a:endParaRPr lang="en-US" sz="1500" dirty="0"/>
          </a:p>
          <a:p>
            <a:pPr algn="l" indent="0" marL="0">
              <a:spcAft>
                <a:spcPts val="450"/>
              </a:spcAft>
              <a:buNone/>
            </a:pPr>
            <a:r>
              <a:rPr lang="en-US" sz="1500" dirty="0">
                <a:solidFill>
                  <a:srgbClr val="243746"/>
                </a:solidFill>
                <a:latin typeface="Calibri" pitchFamily="34" charset="0"/>
                <a:ea typeface="Calibri" pitchFamily="34" charset="-122"/>
                <a:cs typeface="Calibri" pitchFamily="34" charset="-120"/>
              </a:rPr>
              <a:t>2. How should the company improve its job analysis?</a:t>
            </a:r>
            <a:endParaRPr lang="en-US" sz="1500" dirty="0"/>
          </a:p>
        </p:txBody>
      </p:sp>
      <p:sp>
        <p:nvSpPr>
          <p:cNvPr id="11" name="reveal_1_1_analysis"/>
          <p:cNvSpPr/>
          <p:nvPr/>
        </p:nvSpPr>
        <p:spPr>
          <a:xfrm>
            <a:off x="4686300" y="2849880"/>
            <a:ext cx="4000500" cy="1440561"/>
          </a:xfrm>
          <a:prstGeom prst="roundRect">
            <a:avLst>
              <a:gd name="adj" fmla="val 2539"/>
            </a:avLst>
          </a:prstGeom>
          <a:solidFill>
            <a:srgbClr val="FFFFFF"/>
          </a:solidFill>
          <a:ln w="11906">
            <a:solidFill>
              <a:srgbClr val="167A85"/>
            </a:solidFill>
          </a:ln>
        </p:spPr>
        <p:txBody>
          <a:bodyPr wrap="square" lIns="114300" tIns="114300" rIns="114300" bIns="114300" rtlCol="0" anchor="t"/>
          <a:lstStyle/>
          <a:p>
            <a:pPr algn="l" indent="0" marL="0">
              <a:spcAft>
                <a:spcPts val="450"/>
              </a:spcAft>
              <a:buNone/>
            </a:pPr>
            <a:r>
              <a:rPr lang="en-US" sz="1425" b="1" dirty="0">
                <a:solidFill>
                  <a:srgbClr val="167A85"/>
                </a:solidFill>
                <a:latin typeface="Calibri" pitchFamily="34" charset="0"/>
                <a:ea typeface="Calibri" pitchFamily="34" charset="-122"/>
                <a:cs typeface="Calibri" pitchFamily="34" charset="-120"/>
              </a:rPr>
              <a:t>Suggested analysis</a:t>
            </a:r>
            <a:endParaRPr lang="en-US" sz="1425" dirty="0"/>
          </a:p>
          <a:p>
            <a:pPr algn="l" marL="228600" indent="-228600">
              <a:spcAft>
                <a:spcPts val="450"/>
              </a:spcAft>
              <a:buSzPct val="100000"/>
              <a:buChar char="•"/>
            </a:pPr>
            <a:r>
              <a:rPr lang="en-US" sz="1425" dirty="0">
                <a:solidFill>
                  <a:srgbClr val="243746"/>
                </a:solidFill>
                <a:latin typeface="Calibri" pitchFamily="34" charset="0"/>
                <a:ea typeface="Calibri" pitchFamily="34" charset="-122"/>
                <a:cs typeface="Calibri" pitchFamily="34" charset="-120"/>
              </a:rPr>
              <a:t>The description no longer matches the work</a:t>
            </a:r>
            <a:endParaRPr lang="en-US" sz="1425" dirty="0"/>
          </a:p>
          <a:p>
            <a:pPr algn="l" marL="228600" indent="-228600">
              <a:spcAft>
                <a:spcPts val="450"/>
              </a:spcAft>
              <a:buSzPct val="100000"/>
              <a:buChar char="•"/>
            </a:pPr>
            <a:r>
              <a:rPr lang="en-US" sz="1425" dirty="0">
                <a:solidFill>
                  <a:srgbClr val="243746"/>
                </a:solidFill>
                <a:latin typeface="Calibri" pitchFamily="34" charset="0"/>
                <a:ea typeface="Calibri" pitchFamily="34" charset="-122"/>
                <a:cs typeface="Calibri" pitchFamily="34" charset="-120"/>
              </a:rPr>
              <a:t>Appraisal lacks a complete basis</a:t>
            </a:r>
            <a:endParaRPr lang="en-US" sz="1425" dirty="0"/>
          </a:p>
          <a:p>
            <a:pPr algn="l" marL="228600" indent="-228600">
              <a:spcAft>
                <a:spcPts val="450"/>
              </a:spcAft>
              <a:buSzPct val="100000"/>
              <a:buChar char="•"/>
            </a:pPr>
            <a:r>
              <a:rPr lang="en-US" sz="1425" dirty="0">
                <a:solidFill>
                  <a:srgbClr val="243746"/>
                </a:solidFill>
                <a:latin typeface="Calibri" pitchFamily="34" charset="0"/>
                <a:ea typeface="Calibri" pitchFamily="34" charset="-122"/>
                <a:cs typeface="Calibri" pitchFamily="34" charset="-120"/>
              </a:rPr>
              <a:t>Review and update descriptions regularly</a:t>
            </a:r>
            <a:endParaRPr lang="en-US" sz="1425" dirty="0"/>
          </a:p>
        </p:txBody>
      </p:sp>
      <p:sp>
        <p:nvSpPr>
          <p:cNvPr id="12" name="source"/>
          <p:cNvSpPr/>
          <p:nvPr/>
        </p:nvSpPr>
        <p:spPr>
          <a:xfrm>
            <a:off x="457200" y="4610100"/>
            <a:ext cx="7562850" cy="22860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050" dirty="0">
                <a:solidFill>
                  <a:srgbClr val="5E6E78"/>
                </a:solidFill>
                <a:latin typeface="Calibri" pitchFamily="34" charset="0"/>
                <a:ea typeface="Calibri" pitchFamily="34" charset="-122"/>
                <a:cs typeface="Calibri" pitchFamily="34" charset="-120"/>
              </a:rPr>
              <a:t>Teaching scenario (fictional)</a:t>
            </a:r>
            <a:endParaRPr lang="en-US" sz="1050" dirty="0"/>
          </a:p>
        </p:txBody>
      </p:sp>
      <p:sp>
        <p:nvSpPr>
          <p:cNvPr id="13" name="page-number"/>
          <p:cNvSpPr/>
          <p:nvPr/>
        </p:nvSpPr>
        <p:spPr>
          <a:xfrm>
            <a:off x="8115300" y="4629150"/>
            <a:ext cx="571500" cy="209550"/>
          </a:xfrm>
          <a:prstGeom prst="rect">
            <a:avLst/>
          </a:prstGeom>
          <a:solidFill>
            <a:srgbClr val="FFFFFF">
              <a:alpha val="0"/>
            </a:srgbClr>
          </a:solidFill>
          <a:ln>
            <a:solidFill>
              <a:srgbClr val="FFFFFF">
                <a:alpha val="0"/>
              </a:srgbClr>
            </a:solidFill>
          </a:ln>
        </p:spPr>
        <p:txBody>
          <a:bodyPr wrap="square" lIns="0" tIns="0" rIns="0" bIns="0" rtlCol="0" anchor="ctr"/>
          <a:lstStyle/>
          <a:p>
            <a:pPr algn="r" indent="0" marL="0">
              <a:buNone/>
            </a:pPr>
            <a:r>
              <a:rPr lang="en-US" sz="1050" dirty="0">
                <a:solidFill>
                  <a:srgbClr val="5E6E78"/>
                </a:solidFill>
                <a:latin typeface="Calibri" pitchFamily="34" charset="0"/>
                <a:ea typeface="Calibri" pitchFamily="34" charset="-122"/>
                <a:cs typeface="Calibri" pitchFamily="34" charset="-120"/>
              </a:rPr>
              <a:t>12</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p:bgPr>
    </p:bg>
    <p:spTree>
      <p:nvGrpSpPr>
        <p:cNvPr id="1" name=""/>
        <p:cNvGrpSpPr/>
        <p:nvPr/>
      </p:nvGrpSpPr>
      <p:grpSpPr>
        <a:xfrm>
          <a:off x="0" y="0"/>
          <a:ext cx="0" cy="0"/>
          <a:chOff x="0" y="0"/>
          <a:chExt cx="0" cy="0"/>
        </a:xfrm>
      </p:grpSpPr>
      <p:sp>
        <p:nvSpPr>
          <p:cNvPr id="2" name="heading"/>
          <p:cNvSpPr/>
          <p:nvPr/>
        </p:nvSpPr>
        <p:spPr>
          <a:xfrm>
            <a:off x="457200" y="228600"/>
            <a:ext cx="8229600" cy="381000"/>
          </a:xfrm>
          <a:prstGeom prst="rect">
            <a:avLst/>
          </a:prstGeom>
          <a:solidFill>
            <a:srgbClr val="FFFFFF">
              <a:alpha val="0"/>
            </a:srgbClr>
          </a:solidFill>
          <a:ln>
            <a:solidFill>
              <a:srgbClr val="FFFFFF">
                <a:alpha val="0"/>
              </a:srgbClr>
            </a:solidFill>
          </a:ln>
        </p:spPr>
        <p:txBody>
          <a:bodyPr wrap="square" lIns="0" tIns="0" rIns="0" bIns="0" rtlCol="0" anchor="b"/>
          <a:lstStyle/>
          <a:p>
            <a:pPr algn="l" indent="0" marL="0">
              <a:buNone/>
            </a:pPr>
            <a:r>
              <a:rPr lang="en-US" sz="2100" b="1" dirty="0">
                <a:solidFill>
                  <a:srgbClr val="2F5D7C"/>
                </a:solidFill>
                <a:latin typeface="Calibri" pitchFamily="34" charset="0"/>
                <a:ea typeface="Calibri" pitchFamily="34" charset="-122"/>
                <a:cs typeface="Calibri" pitchFamily="34" charset="-120"/>
              </a:rPr>
              <a:t>Quiz</a:t>
            </a:r>
            <a:endParaRPr lang="en-US" sz="2100" dirty="0"/>
          </a:p>
        </p:txBody>
      </p:sp>
      <p:sp>
        <p:nvSpPr>
          <p:cNvPr id="3" name="title-rule"/>
          <p:cNvSpPr/>
          <p:nvPr/>
        </p:nvSpPr>
        <p:spPr>
          <a:xfrm>
            <a:off x="457200" y="685800"/>
            <a:ext cx="8229600" cy="14288"/>
          </a:xfrm>
          <a:prstGeom prst="rect">
            <a:avLst/>
          </a:prstGeom>
          <a:solidFill>
            <a:srgbClr val="A3B1B9"/>
          </a:solidFill>
          <a:ln w="12700">
            <a:solidFill>
              <a:srgbClr val="FFFFFF">
                <a:alpha val="0"/>
              </a:srgbClr>
            </a:solidFill>
            <a:prstDash val="solid"/>
          </a:ln>
        </p:spPr>
      </p:sp>
      <p:sp>
        <p:nvSpPr>
          <p:cNvPr id="4" name="topic"/>
          <p:cNvSpPr/>
          <p:nvPr/>
        </p:nvSpPr>
        <p:spPr>
          <a:xfrm>
            <a:off x="457200" y="800100"/>
            <a:ext cx="8229600" cy="34290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650" b="1" dirty="0">
                <a:solidFill>
                  <a:srgbClr val="243746"/>
                </a:solidFill>
                <a:latin typeface="Calibri" pitchFamily="34" charset="0"/>
                <a:ea typeface="Calibri" pitchFamily="34" charset="-122"/>
                <a:cs typeface="Calibri" pitchFamily="34" charset="-120"/>
              </a:rPr>
              <a:t>Check your understanding</a:t>
            </a:r>
            <a:endParaRPr lang="en-US" sz="1650" dirty="0"/>
          </a:p>
        </p:txBody>
      </p:sp>
      <p:sp>
        <p:nvSpPr>
          <p:cNvPr id="5" name="question-1-card"/>
          <p:cNvSpPr/>
          <p:nvPr/>
        </p:nvSpPr>
        <p:spPr>
          <a:xfrm>
            <a:off x="457200" y="1676400"/>
            <a:ext cx="8229600" cy="902970"/>
          </a:xfrm>
          <a:prstGeom prst="rect">
            <a:avLst/>
          </a:prstGeom>
          <a:solidFill>
            <a:srgbClr val="FFFFFF"/>
          </a:solidFill>
          <a:ln w="9525">
            <a:solidFill>
              <a:srgbClr val="D3DDE2"/>
            </a:solidFill>
            <a:prstDash val="solid"/>
          </a:ln>
        </p:spPr>
      </p:sp>
      <p:sp>
        <p:nvSpPr>
          <p:cNvPr id="6" name="question-1-number"/>
          <p:cNvSpPr/>
          <p:nvPr/>
        </p:nvSpPr>
        <p:spPr>
          <a:xfrm>
            <a:off x="609600" y="1800225"/>
            <a:ext cx="361950" cy="361950"/>
          </a:xfrm>
          <a:prstGeom prst="ellipse">
            <a:avLst/>
          </a:prstGeom>
          <a:solidFill>
            <a:srgbClr val="2F5D7C"/>
          </a:solidFill>
          <a:ln>
            <a:solidFill>
              <a:srgbClr val="FFFFFF">
                <a:alpha val="0"/>
              </a:srgbClr>
            </a:solid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7" name="question-1"/>
          <p:cNvSpPr/>
          <p:nvPr/>
        </p:nvSpPr>
        <p:spPr>
          <a:xfrm>
            <a:off x="1143000" y="1828800"/>
            <a:ext cx="7391400" cy="264033"/>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575" b="1" dirty="0">
                <a:solidFill>
                  <a:srgbClr val="243746"/>
                </a:solidFill>
                <a:latin typeface="Calibri" pitchFamily="34" charset="0"/>
                <a:ea typeface="Calibri" pitchFamily="34" charset="-122"/>
                <a:cs typeface="Calibri" pitchFamily="34" charset="-120"/>
              </a:rPr>
              <a:t>Does job analysis study the job or the employee?</a:t>
            </a:r>
            <a:endParaRPr lang="en-US" sz="1575" dirty="0"/>
          </a:p>
        </p:txBody>
      </p:sp>
      <p:sp>
        <p:nvSpPr>
          <p:cNvPr id="8" name="reveal_1_1_answer"/>
          <p:cNvSpPr/>
          <p:nvPr/>
        </p:nvSpPr>
        <p:spPr>
          <a:xfrm>
            <a:off x="1143000" y="2188083"/>
            <a:ext cx="7391400" cy="238887"/>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425" b="1" dirty="0">
                <a:solidFill>
                  <a:srgbClr val="167A85"/>
                </a:solidFill>
                <a:latin typeface="Calibri" pitchFamily="34" charset="0"/>
                <a:ea typeface="Calibri" pitchFamily="34" charset="-122"/>
                <a:cs typeface="Calibri" pitchFamily="34" charset="-120"/>
              </a:rPr>
              <a:t>Answer: The job: its duties and requirements, not one person's performance.</a:t>
            </a:r>
            <a:endParaRPr lang="en-US" sz="1425" dirty="0"/>
          </a:p>
        </p:txBody>
      </p:sp>
      <p:sp>
        <p:nvSpPr>
          <p:cNvPr id="9" name="question-2-card"/>
          <p:cNvSpPr/>
          <p:nvPr/>
        </p:nvSpPr>
        <p:spPr>
          <a:xfrm>
            <a:off x="457200" y="2884170"/>
            <a:ext cx="8229600" cy="902970"/>
          </a:xfrm>
          <a:prstGeom prst="rect">
            <a:avLst/>
          </a:prstGeom>
          <a:solidFill>
            <a:srgbClr val="FFFFFF"/>
          </a:solidFill>
          <a:ln w="9525">
            <a:solidFill>
              <a:srgbClr val="D3DDE2"/>
            </a:solidFill>
            <a:prstDash val="solid"/>
          </a:ln>
        </p:spPr>
      </p:sp>
      <p:sp>
        <p:nvSpPr>
          <p:cNvPr id="10" name="question-2-number"/>
          <p:cNvSpPr/>
          <p:nvPr/>
        </p:nvSpPr>
        <p:spPr>
          <a:xfrm>
            <a:off x="609600" y="3007995"/>
            <a:ext cx="361950" cy="361950"/>
          </a:xfrm>
          <a:prstGeom prst="ellipse">
            <a:avLst/>
          </a:prstGeom>
          <a:solidFill>
            <a:srgbClr val="2F5D7C"/>
          </a:solidFill>
          <a:ln>
            <a:solidFill>
              <a:srgbClr val="FFFFFF">
                <a:alpha val="0"/>
              </a:srgbClr>
            </a:solid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11" name="question-2"/>
          <p:cNvSpPr/>
          <p:nvPr/>
        </p:nvSpPr>
        <p:spPr>
          <a:xfrm>
            <a:off x="1143000" y="3036570"/>
            <a:ext cx="7391400" cy="264033"/>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575" b="1" dirty="0">
                <a:solidFill>
                  <a:srgbClr val="243746"/>
                </a:solidFill>
                <a:latin typeface="Calibri" pitchFamily="34" charset="0"/>
                <a:ea typeface="Calibri" pitchFamily="34" charset="-122"/>
                <a:cs typeface="Calibri" pitchFamily="34" charset="-120"/>
              </a:rPr>
              <a:t>Is observation enough to analyze an R&amp;D engineer's job?</a:t>
            </a:r>
            <a:endParaRPr lang="en-US" sz="1575" dirty="0"/>
          </a:p>
        </p:txBody>
      </p:sp>
      <p:sp>
        <p:nvSpPr>
          <p:cNvPr id="12" name="reveal_2_1_answer"/>
          <p:cNvSpPr/>
          <p:nvPr/>
        </p:nvSpPr>
        <p:spPr>
          <a:xfrm>
            <a:off x="1143000" y="3395853"/>
            <a:ext cx="7391400" cy="238887"/>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425" b="1" dirty="0">
                <a:solidFill>
                  <a:srgbClr val="167A85"/>
                </a:solidFill>
                <a:latin typeface="Calibri" pitchFamily="34" charset="0"/>
                <a:ea typeface="Calibri" pitchFamily="34" charset="-122"/>
                <a:cs typeface="Calibri" pitchFamily="34" charset="-120"/>
              </a:rPr>
              <a:t>Answer: No. The work is mainly mental; add interviews and questionnaires.</a:t>
            </a:r>
            <a:endParaRPr lang="en-US" sz="1425" dirty="0"/>
          </a:p>
        </p:txBody>
      </p:sp>
      <p:sp>
        <p:nvSpPr>
          <p:cNvPr id="13" name="page-number"/>
          <p:cNvSpPr/>
          <p:nvPr/>
        </p:nvSpPr>
        <p:spPr>
          <a:xfrm>
            <a:off x="8115300" y="4629150"/>
            <a:ext cx="571500" cy="209550"/>
          </a:xfrm>
          <a:prstGeom prst="rect">
            <a:avLst/>
          </a:prstGeom>
          <a:solidFill>
            <a:srgbClr val="FFFFFF">
              <a:alpha val="0"/>
            </a:srgbClr>
          </a:solidFill>
          <a:ln>
            <a:solidFill>
              <a:srgbClr val="FFFFFF">
                <a:alpha val="0"/>
              </a:srgbClr>
            </a:solidFill>
          </a:ln>
        </p:spPr>
        <p:txBody>
          <a:bodyPr wrap="square" lIns="0" tIns="0" rIns="0" bIns="0" rtlCol="0" anchor="ctr"/>
          <a:lstStyle/>
          <a:p>
            <a:pPr algn="r" indent="0" marL="0">
              <a:buNone/>
            </a:pPr>
            <a:r>
              <a:rPr lang="en-US" sz="1050" dirty="0">
                <a:solidFill>
                  <a:srgbClr val="5E6E78"/>
                </a:solidFill>
                <a:latin typeface="Calibri" pitchFamily="34" charset="0"/>
                <a:ea typeface="Calibri" pitchFamily="34" charset="-122"/>
                <a:cs typeface="Calibri" pitchFamily="34" charset="-120"/>
              </a:rPr>
              <a:t>13</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A"/>
        </a:solidFill>
      </p:bgPr>
    </p:bg>
    <p:spTree>
      <p:nvGrpSpPr>
        <p:cNvPr id="1" name=""/>
        <p:cNvGrpSpPr/>
        <p:nvPr/>
      </p:nvGrpSpPr>
      <p:grpSpPr>
        <a:xfrm>
          <a:off x="0" y="0"/>
          <a:ext cx="0" cy="0"/>
          <a:chOff x="0" y="0"/>
          <a:chExt cx="0" cy="0"/>
        </a:xfrm>
      </p:grpSpPr>
      <p:sp>
        <p:nvSpPr>
          <p:cNvPr id="2" name="link-1"/>
          <p:cNvSpPr/>
          <p:nvPr/>
        </p:nvSpPr>
        <p:spPr>
          <a:xfrm flipV="1">
            <a:off x="2324100" y="1764506"/>
            <a:ext cx="609600" cy="1178719"/>
          </a:xfrm>
          <a:prstGeom prst="line">
            <a:avLst/>
          </a:prstGeom>
          <a:noFill/>
          <a:ln w="14288">
            <a:solidFill>
              <a:srgbClr val="A3B1B9"/>
            </a:solidFill>
            <a:prstDash val="solid"/>
          </a:ln>
        </p:spPr>
      </p:sp>
      <p:sp>
        <p:nvSpPr>
          <p:cNvPr id="3" name="leaf-1"/>
          <p:cNvSpPr/>
          <p:nvPr/>
        </p:nvSpPr>
        <p:spPr>
          <a:xfrm>
            <a:off x="4686300" y="1764506"/>
            <a:ext cx="438150" cy="0"/>
          </a:xfrm>
          <a:prstGeom prst="line">
            <a:avLst/>
          </a:prstGeom>
          <a:noFill/>
          <a:ln w="14288">
            <a:solidFill>
              <a:srgbClr val="A3B1B9"/>
            </a:solidFill>
            <a:prstDash val="solid"/>
          </a:ln>
        </p:spPr>
      </p:sp>
      <p:sp>
        <p:nvSpPr>
          <p:cNvPr id="4" name="link-2"/>
          <p:cNvSpPr/>
          <p:nvPr/>
        </p:nvSpPr>
        <p:spPr>
          <a:xfrm flipV="1">
            <a:off x="2324100" y="2550319"/>
            <a:ext cx="609600" cy="392906"/>
          </a:xfrm>
          <a:prstGeom prst="line">
            <a:avLst/>
          </a:prstGeom>
          <a:noFill/>
          <a:ln w="14288">
            <a:solidFill>
              <a:srgbClr val="A3B1B9"/>
            </a:solidFill>
            <a:prstDash val="solid"/>
          </a:ln>
        </p:spPr>
      </p:sp>
      <p:sp>
        <p:nvSpPr>
          <p:cNvPr id="5" name="leaf-2"/>
          <p:cNvSpPr/>
          <p:nvPr/>
        </p:nvSpPr>
        <p:spPr>
          <a:xfrm>
            <a:off x="4686300" y="2550319"/>
            <a:ext cx="438150" cy="0"/>
          </a:xfrm>
          <a:prstGeom prst="line">
            <a:avLst/>
          </a:prstGeom>
          <a:noFill/>
          <a:ln w="14288">
            <a:solidFill>
              <a:srgbClr val="A3B1B9"/>
            </a:solidFill>
            <a:prstDash val="solid"/>
          </a:ln>
        </p:spPr>
      </p:sp>
      <p:sp>
        <p:nvSpPr>
          <p:cNvPr id="6" name="link-3"/>
          <p:cNvSpPr/>
          <p:nvPr/>
        </p:nvSpPr>
        <p:spPr>
          <a:xfrm>
            <a:off x="2324100" y="2943225"/>
            <a:ext cx="609600" cy="392906"/>
          </a:xfrm>
          <a:prstGeom prst="line">
            <a:avLst/>
          </a:prstGeom>
          <a:noFill/>
          <a:ln w="14288">
            <a:solidFill>
              <a:srgbClr val="A3B1B9"/>
            </a:solidFill>
            <a:prstDash val="solid"/>
          </a:ln>
        </p:spPr>
      </p:sp>
      <p:sp>
        <p:nvSpPr>
          <p:cNvPr id="7" name="leaf-3"/>
          <p:cNvSpPr/>
          <p:nvPr/>
        </p:nvSpPr>
        <p:spPr>
          <a:xfrm>
            <a:off x="4686300" y="3336131"/>
            <a:ext cx="438150" cy="0"/>
          </a:xfrm>
          <a:prstGeom prst="line">
            <a:avLst/>
          </a:prstGeom>
          <a:noFill/>
          <a:ln w="14288">
            <a:solidFill>
              <a:srgbClr val="A3B1B9"/>
            </a:solidFill>
            <a:prstDash val="solid"/>
          </a:ln>
        </p:spPr>
      </p:sp>
      <p:sp>
        <p:nvSpPr>
          <p:cNvPr id="8" name="link-4"/>
          <p:cNvSpPr/>
          <p:nvPr/>
        </p:nvSpPr>
        <p:spPr>
          <a:xfrm>
            <a:off x="2324100" y="2943225"/>
            <a:ext cx="609600" cy="1178719"/>
          </a:xfrm>
          <a:prstGeom prst="line">
            <a:avLst/>
          </a:prstGeom>
          <a:noFill/>
          <a:ln w="14288">
            <a:solidFill>
              <a:srgbClr val="A3B1B9"/>
            </a:solidFill>
            <a:prstDash val="solid"/>
          </a:ln>
        </p:spPr>
      </p:sp>
      <p:sp>
        <p:nvSpPr>
          <p:cNvPr id="9" name="leaf-4"/>
          <p:cNvSpPr/>
          <p:nvPr/>
        </p:nvSpPr>
        <p:spPr>
          <a:xfrm>
            <a:off x="4686300" y="4121944"/>
            <a:ext cx="438150" cy="0"/>
          </a:xfrm>
          <a:prstGeom prst="line">
            <a:avLst/>
          </a:prstGeom>
          <a:noFill/>
          <a:ln w="14288">
            <a:solidFill>
              <a:srgbClr val="A3B1B9"/>
            </a:solidFill>
            <a:prstDash val="solid"/>
          </a:ln>
        </p:spPr>
      </p:sp>
      <p:sp>
        <p:nvSpPr>
          <p:cNvPr id="10" name="heading"/>
          <p:cNvSpPr/>
          <p:nvPr/>
        </p:nvSpPr>
        <p:spPr>
          <a:xfrm>
            <a:off x="457200" y="228600"/>
            <a:ext cx="8229600" cy="381000"/>
          </a:xfrm>
          <a:prstGeom prst="rect">
            <a:avLst/>
          </a:prstGeom>
          <a:solidFill>
            <a:srgbClr val="FFFFFF">
              <a:alpha val="0"/>
            </a:srgbClr>
          </a:solidFill>
          <a:ln>
            <a:solidFill>
              <a:srgbClr val="FFFFFF">
                <a:alpha val="0"/>
              </a:srgbClr>
            </a:solidFill>
          </a:ln>
        </p:spPr>
        <p:txBody>
          <a:bodyPr wrap="square" lIns="0" tIns="0" rIns="0" bIns="0" rtlCol="0" anchor="b"/>
          <a:lstStyle/>
          <a:p>
            <a:pPr algn="l" indent="0" marL="0">
              <a:buNone/>
            </a:pPr>
            <a:r>
              <a:rPr lang="en-US" sz="2100" b="1" dirty="0">
                <a:solidFill>
                  <a:srgbClr val="2F5D7C"/>
                </a:solidFill>
                <a:latin typeface="Calibri" pitchFamily="34" charset="0"/>
                <a:ea typeface="Calibri" pitchFamily="34" charset="-122"/>
                <a:cs typeface="Calibri" pitchFamily="34" charset="-120"/>
              </a:rPr>
              <a:t>Review</a:t>
            </a:r>
            <a:endParaRPr lang="en-US" sz="2100" dirty="0"/>
          </a:p>
        </p:txBody>
      </p:sp>
      <p:sp>
        <p:nvSpPr>
          <p:cNvPr id="11" name="title-rule"/>
          <p:cNvSpPr/>
          <p:nvPr/>
        </p:nvSpPr>
        <p:spPr>
          <a:xfrm>
            <a:off x="457200" y="685800"/>
            <a:ext cx="8229600" cy="14288"/>
          </a:xfrm>
          <a:prstGeom prst="rect">
            <a:avLst/>
          </a:prstGeom>
          <a:solidFill>
            <a:srgbClr val="A3B1B9"/>
          </a:solidFill>
          <a:ln w="12700">
            <a:solidFill>
              <a:srgbClr val="FFFFFF">
                <a:alpha val="0"/>
              </a:srgbClr>
            </a:solidFill>
            <a:prstDash val="solid"/>
          </a:ln>
        </p:spPr>
      </p:sp>
      <p:sp>
        <p:nvSpPr>
          <p:cNvPr id="12" name="topic"/>
          <p:cNvSpPr/>
          <p:nvPr/>
        </p:nvSpPr>
        <p:spPr>
          <a:xfrm>
            <a:off x="457200" y="800100"/>
            <a:ext cx="8229600" cy="342900"/>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650" b="1" dirty="0">
                <a:solidFill>
                  <a:srgbClr val="243746"/>
                </a:solidFill>
                <a:latin typeface="Calibri" pitchFamily="34" charset="0"/>
                <a:ea typeface="Calibri" pitchFamily="34" charset="-122"/>
                <a:cs typeface="Calibri" pitchFamily="34" charset="-120"/>
              </a:rPr>
              <a:t>Chapter map</a:t>
            </a:r>
            <a:endParaRPr lang="en-US" sz="1650" dirty="0"/>
          </a:p>
        </p:txBody>
      </p:sp>
      <p:sp>
        <p:nvSpPr>
          <p:cNvPr id="13" name="root"/>
          <p:cNvSpPr/>
          <p:nvPr/>
        </p:nvSpPr>
        <p:spPr>
          <a:xfrm>
            <a:off x="457200" y="2600325"/>
            <a:ext cx="1866900" cy="685800"/>
          </a:xfrm>
          <a:prstGeom prst="roundRect">
            <a:avLst>
              <a:gd name="adj" fmla="val 10667"/>
            </a:avLst>
          </a:prstGeom>
          <a:solidFill>
            <a:srgbClr val="2F5D7C"/>
          </a:solidFill>
          <a:ln>
            <a:solidFill>
              <a:srgbClr val="FFFFFF">
                <a:alpha val="0"/>
              </a:srgbClr>
            </a:solidFill>
          </a:ln>
        </p:spPr>
        <p:txBody>
          <a:bodyPr wrap="square" lIns="76200" tIns="76200" rIns="76200" bIns="76200" rtlCol="0" anchor="ctr"/>
          <a:lstStyle/>
          <a:p>
            <a:pPr algn="ctr" indent="0" marL="0">
              <a:buNone/>
            </a:pPr>
            <a:r>
              <a:rPr lang="en-US" sz="1650" b="1" dirty="0">
                <a:solidFill>
                  <a:srgbClr val="FFFFFF"/>
                </a:solidFill>
                <a:latin typeface="Calibri" pitchFamily="34" charset="0"/>
                <a:ea typeface="Calibri" pitchFamily="34" charset="-122"/>
                <a:cs typeface="Calibri" pitchFamily="34" charset="-120"/>
              </a:rPr>
              <a:t>Job analysis</a:t>
            </a:r>
            <a:endParaRPr lang="en-US" sz="1650" dirty="0"/>
          </a:p>
        </p:txBody>
      </p:sp>
      <p:sp>
        <p:nvSpPr>
          <p:cNvPr id="14" name="branch-1"/>
          <p:cNvSpPr/>
          <p:nvPr/>
        </p:nvSpPr>
        <p:spPr>
          <a:xfrm>
            <a:off x="2933700" y="1545431"/>
            <a:ext cx="1752600" cy="438150"/>
          </a:xfrm>
          <a:prstGeom prst="roundRect">
            <a:avLst>
              <a:gd name="adj" fmla="val 104348"/>
            </a:avLst>
          </a:prstGeom>
          <a:solidFill>
            <a:srgbClr val="E7F0F3"/>
          </a:solidFill>
          <a:ln w="11906">
            <a:solidFill>
              <a:srgbClr val="167A85"/>
            </a:solidFill>
          </a:ln>
        </p:spPr>
        <p:txBody>
          <a:bodyPr wrap="square" lIns="38100" tIns="38100" rIns="38100" bIns="38100" rtlCol="0" anchor="ctr"/>
          <a:lstStyle/>
          <a:p>
            <a:pPr algn="ctr" indent="0" marL="0">
              <a:buNone/>
            </a:pPr>
            <a:r>
              <a:rPr lang="en-US" sz="1500" b="1" dirty="0">
                <a:solidFill>
                  <a:srgbClr val="167A85"/>
                </a:solidFill>
                <a:latin typeface="Calibri" pitchFamily="34" charset="0"/>
                <a:ea typeface="Calibri" pitchFamily="34" charset="-122"/>
                <a:cs typeface="Calibri" pitchFamily="34" charset="-120"/>
              </a:rPr>
              <a:t>Meaning</a:t>
            </a:r>
            <a:endParaRPr lang="en-US" sz="1500" dirty="0"/>
          </a:p>
        </p:txBody>
      </p:sp>
      <p:sp>
        <p:nvSpPr>
          <p:cNvPr id="15" name="branch-1-items"/>
          <p:cNvSpPr/>
          <p:nvPr/>
        </p:nvSpPr>
        <p:spPr>
          <a:xfrm>
            <a:off x="5124450" y="1651349"/>
            <a:ext cx="3562350" cy="226314"/>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350" dirty="0">
                <a:solidFill>
                  <a:srgbClr val="243746"/>
                </a:solidFill>
                <a:latin typeface="Calibri" pitchFamily="34" charset="0"/>
                <a:ea typeface="Calibri" pitchFamily="34" charset="-122"/>
                <a:cs typeface="Calibri" pitchFamily="34" charset="-120"/>
              </a:rPr>
              <a:t>Studies the job; Produces two documents</a:t>
            </a:r>
            <a:endParaRPr lang="en-US" sz="1350" dirty="0"/>
          </a:p>
        </p:txBody>
      </p:sp>
      <p:sp>
        <p:nvSpPr>
          <p:cNvPr id="16" name="branch-2"/>
          <p:cNvSpPr/>
          <p:nvPr/>
        </p:nvSpPr>
        <p:spPr>
          <a:xfrm>
            <a:off x="2933700" y="2331244"/>
            <a:ext cx="1752600" cy="438150"/>
          </a:xfrm>
          <a:prstGeom prst="roundRect">
            <a:avLst>
              <a:gd name="adj" fmla="val 104348"/>
            </a:avLst>
          </a:prstGeom>
          <a:solidFill>
            <a:srgbClr val="E7F0F3"/>
          </a:solidFill>
          <a:ln w="11906">
            <a:solidFill>
              <a:srgbClr val="167A85"/>
            </a:solidFill>
          </a:ln>
        </p:spPr>
        <p:txBody>
          <a:bodyPr wrap="square" lIns="38100" tIns="38100" rIns="38100" bIns="38100" rtlCol="0" anchor="ctr"/>
          <a:lstStyle/>
          <a:p>
            <a:pPr algn="ctr" indent="0" marL="0">
              <a:buNone/>
            </a:pPr>
            <a:r>
              <a:rPr lang="en-US" sz="1500" b="1" dirty="0">
                <a:solidFill>
                  <a:srgbClr val="167A85"/>
                </a:solidFill>
                <a:latin typeface="Calibri" pitchFamily="34" charset="0"/>
                <a:ea typeface="Calibri" pitchFamily="34" charset="-122"/>
                <a:cs typeface="Calibri" pitchFamily="34" charset="-120"/>
              </a:rPr>
              <a:t>Process</a:t>
            </a:r>
            <a:endParaRPr lang="en-US" sz="1500" dirty="0"/>
          </a:p>
        </p:txBody>
      </p:sp>
      <p:sp>
        <p:nvSpPr>
          <p:cNvPr id="17" name="branch-2-items"/>
          <p:cNvSpPr/>
          <p:nvPr/>
        </p:nvSpPr>
        <p:spPr>
          <a:xfrm>
            <a:off x="5124450" y="2437162"/>
            <a:ext cx="3562350" cy="226314"/>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350" dirty="0">
                <a:solidFill>
                  <a:srgbClr val="243746"/>
                </a:solidFill>
                <a:latin typeface="Calibri" pitchFamily="34" charset="0"/>
                <a:ea typeface="Calibri" pitchFamily="34" charset="-122"/>
                <a:cs typeface="Calibri" pitchFamily="34" charset="-120"/>
              </a:rPr>
              <a:t>Preparation; Investigation; Analysis; Completion</a:t>
            </a:r>
            <a:endParaRPr lang="en-US" sz="1350" dirty="0"/>
          </a:p>
        </p:txBody>
      </p:sp>
      <p:sp>
        <p:nvSpPr>
          <p:cNvPr id="18" name="branch-3"/>
          <p:cNvSpPr/>
          <p:nvPr/>
        </p:nvSpPr>
        <p:spPr>
          <a:xfrm>
            <a:off x="2933700" y="3117056"/>
            <a:ext cx="1752600" cy="438150"/>
          </a:xfrm>
          <a:prstGeom prst="roundRect">
            <a:avLst>
              <a:gd name="adj" fmla="val 104348"/>
            </a:avLst>
          </a:prstGeom>
          <a:solidFill>
            <a:srgbClr val="E7F0F3"/>
          </a:solidFill>
          <a:ln w="11906">
            <a:solidFill>
              <a:srgbClr val="167A85"/>
            </a:solidFill>
          </a:ln>
        </p:spPr>
        <p:txBody>
          <a:bodyPr wrap="square" lIns="38100" tIns="38100" rIns="38100" bIns="38100" rtlCol="0" anchor="ctr"/>
          <a:lstStyle/>
          <a:p>
            <a:pPr algn="ctr" indent="0" marL="0">
              <a:buNone/>
            </a:pPr>
            <a:r>
              <a:rPr lang="en-US" sz="1500" b="1" dirty="0">
                <a:solidFill>
                  <a:srgbClr val="167A85"/>
                </a:solidFill>
                <a:latin typeface="Calibri" pitchFamily="34" charset="0"/>
                <a:ea typeface="Calibri" pitchFamily="34" charset="-122"/>
                <a:cs typeface="Calibri" pitchFamily="34" charset="-120"/>
              </a:rPr>
              <a:t>Methods</a:t>
            </a:r>
            <a:endParaRPr lang="en-US" sz="1500" dirty="0"/>
          </a:p>
        </p:txBody>
      </p:sp>
      <p:sp>
        <p:nvSpPr>
          <p:cNvPr id="19" name="branch-3-items"/>
          <p:cNvSpPr/>
          <p:nvPr/>
        </p:nvSpPr>
        <p:spPr>
          <a:xfrm>
            <a:off x="5124450" y="3109817"/>
            <a:ext cx="3562350" cy="452628"/>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350" dirty="0">
                <a:solidFill>
                  <a:srgbClr val="243746"/>
                </a:solidFill>
                <a:latin typeface="Calibri" pitchFamily="34" charset="0"/>
                <a:ea typeface="Calibri" pitchFamily="34" charset="-122"/>
                <a:cs typeface="Calibri" pitchFamily="34" charset="-120"/>
              </a:rPr>
              <a:t>Observation; Interview; Questionnaire; Work diary</a:t>
            </a:r>
            <a:endParaRPr lang="en-US" sz="1350" dirty="0"/>
          </a:p>
        </p:txBody>
      </p:sp>
      <p:sp>
        <p:nvSpPr>
          <p:cNvPr id="20" name="branch-4"/>
          <p:cNvSpPr/>
          <p:nvPr/>
        </p:nvSpPr>
        <p:spPr>
          <a:xfrm>
            <a:off x="2933700" y="3902869"/>
            <a:ext cx="1752600" cy="438150"/>
          </a:xfrm>
          <a:prstGeom prst="roundRect">
            <a:avLst>
              <a:gd name="adj" fmla="val 104348"/>
            </a:avLst>
          </a:prstGeom>
          <a:solidFill>
            <a:srgbClr val="E7F0F3"/>
          </a:solidFill>
          <a:ln w="11906">
            <a:solidFill>
              <a:srgbClr val="167A85"/>
            </a:solidFill>
          </a:ln>
        </p:spPr>
        <p:txBody>
          <a:bodyPr wrap="square" lIns="38100" tIns="38100" rIns="38100" bIns="38100" rtlCol="0" anchor="ctr"/>
          <a:lstStyle/>
          <a:p>
            <a:pPr algn="ctr" indent="0" marL="0">
              <a:buNone/>
            </a:pPr>
            <a:r>
              <a:rPr lang="en-US" sz="1500" b="1" dirty="0">
                <a:solidFill>
                  <a:srgbClr val="167A85"/>
                </a:solidFill>
                <a:latin typeface="Calibri" pitchFamily="34" charset="0"/>
                <a:ea typeface="Calibri" pitchFamily="34" charset="-122"/>
                <a:cs typeface="Calibri" pitchFamily="34" charset="-120"/>
              </a:rPr>
              <a:t>Documents</a:t>
            </a:r>
            <a:endParaRPr lang="en-US" sz="1500" dirty="0"/>
          </a:p>
        </p:txBody>
      </p:sp>
      <p:sp>
        <p:nvSpPr>
          <p:cNvPr id="21" name="branch-4-items"/>
          <p:cNvSpPr/>
          <p:nvPr/>
        </p:nvSpPr>
        <p:spPr>
          <a:xfrm>
            <a:off x="5124450" y="4008787"/>
            <a:ext cx="3562350" cy="226314"/>
          </a:xfrm>
          <a:prstGeom prst="rect">
            <a:avLst/>
          </a:prstGeom>
          <a:solidFill>
            <a:srgbClr val="FFFFFF">
              <a:alpha val="0"/>
            </a:srgbClr>
          </a:solidFill>
          <a:ln>
            <a:solidFill>
              <a:srgbClr val="FFFFFF">
                <a:alpha val="0"/>
              </a:srgbClr>
            </a:solidFill>
          </a:ln>
        </p:spPr>
        <p:txBody>
          <a:bodyPr wrap="square" lIns="0" tIns="0" rIns="0" bIns="0" rtlCol="0" anchor="ctr"/>
          <a:lstStyle/>
          <a:p>
            <a:pPr algn="l" indent="0" marL="0">
              <a:buNone/>
            </a:pPr>
            <a:r>
              <a:rPr lang="en-US" sz="1350" dirty="0">
                <a:solidFill>
                  <a:srgbClr val="243746"/>
                </a:solidFill>
                <a:latin typeface="Calibri" pitchFamily="34" charset="0"/>
                <a:ea typeface="Calibri" pitchFamily="34" charset="-122"/>
                <a:cs typeface="Calibri" pitchFamily="34" charset="-120"/>
              </a:rPr>
              <a:t>Description (the work); Specification (the person)</a:t>
            </a:r>
            <a:endParaRPr lang="en-US" sz="1350" dirty="0"/>
          </a:p>
        </p:txBody>
      </p:sp>
      <p:sp>
        <p:nvSpPr>
          <p:cNvPr id="22" name="page-number"/>
          <p:cNvSpPr/>
          <p:nvPr/>
        </p:nvSpPr>
        <p:spPr>
          <a:xfrm>
            <a:off x="8115300" y="4629150"/>
            <a:ext cx="571500" cy="209550"/>
          </a:xfrm>
          <a:prstGeom prst="rect">
            <a:avLst/>
          </a:prstGeom>
          <a:solidFill>
            <a:srgbClr val="FFFFFF">
              <a:alpha val="0"/>
            </a:srgbClr>
          </a:solidFill>
          <a:ln>
            <a:solidFill>
              <a:srgbClr val="FFFFFF">
                <a:alpha val="0"/>
              </a:srgbClr>
            </a:solidFill>
          </a:ln>
        </p:spPr>
        <p:txBody>
          <a:bodyPr wrap="square" lIns="0" tIns="0" rIns="0" bIns="0" rtlCol="0" anchor="ctr"/>
          <a:lstStyle/>
          <a:p>
            <a:pPr algn="r" indent="0" marL="0">
              <a:buNone/>
            </a:pPr>
            <a:r>
              <a:rPr lang="en-US" sz="1050" dirty="0">
                <a:solidFill>
                  <a:srgbClr val="5E6E78"/>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F5D7C"/>
        </a:solidFill>
      </p:bgPr>
    </p:bg>
    <p:spTree>
      <p:nvGrpSpPr>
        <p:cNvPr id="1" name=""/>
        <p:cNvGrpSpPr/>
        <p:nvPr/>
      </p:nvGrpSpPr>
      <p:grpSpPr>
        <a:xfrm>
          <a:off x="0" y="0"/>
          <a:ext cx="0" cy="0"/>
          <a:chOff x="0" y="0"/>
          <a:chExt cx="0" cy="0"/>
        </a:xfrm>
      </p:grpSpPr>
      <p:sp>
        <p:nvSpPr>
          <p:cNvPr id="2" name="title"/>
          <p:cNvSpPr/>
          <p:nvPr/>
        </p:nvSpPr>
        <p:spPr>
          <a:xfrm>
            <a:off x="876300" y="2107311"/>
            <a:ext cx="7810500" cy="452628"/>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2700" b="1" dirty="0">
                <a:solidFill>
                  <a:srgbClr val="FFFFFF"/>
                </a:solidFill>
                <a:latin typeface="Calibri" pitchFamily="34" charset="0"/>
                <a:ea typeface="Calibri" pitchFamily="34" charset="-122"/>
                <a:cs typeface="Calibri" pitchFamily="34" charset="-120"/>
              </a:rPr>
              <a:t>Homework</a:t>
            </a:r>
            <a:endParaRPr lang="en-US" sz="2700" dirty="0"/>
          </a:p>
        </p:txBody>
      </p:sp>
      <p:sp>
        <p:nvSpPr>
          <p:cNvPr id="3" name="title-accent"/>
          <p:cNvSpPr/>
          <p:nvPr/>
        </p:nvSpPr>
        <p:spPr>
          <a:xfrm>
            <a:off x="876300" y="2693289"/>
            <a:ext cx="762000" cy="38100"/>
          </a:xfrm>
          <a:prstGeom prst="rect">
            <a:avLst/>
          </a:prstGeom>
          <a:solidFill>
            <a:srgbClr val="BFD4DE"/>
          </a:solidFill>
          <a:ln w="12700">
            <a:solidFill>
              <a:srgbClr val="FFFFFF">
                <a:alpha val="0"/>
              </a:srgbClr>
            </a:solidFill>
            <a:prstDash val="solid"/>
          </a:ln>
        </p:spPr>
      </p:sp>
      <p:sp>
        <p:nvSpPr>
          <p:cNvPr id="4" name="subtitle"/>
          <p:cNvSpPr/>
          <p:nvPr/>
        </p:nvSpPr>
        <p:spPr>
          <a:xfrm>
            <a:off x="876300" y="2883789"/>
            <a:ext cx="7810500" cy="251460"/>
          </a:xfrm>
          <a:prstGeom prst="rect">
            <a:avLst/>
          </a:prstGeom>
          <a:solidFill>
            <a:srgbClr val="FFFFFF">
              <a:alpha val="0"/>
            </a:srgbClr>
          </a:solidFill>
          <a:ln>
            <a:solidFill>
              <a:srgbClr val="FFFFFF">
                <a:alpha val="0"/>
              </a:srgbClr>
            </a:solidFill>
          </a:ln>
        </p:spPr>
        <p:txBody>
          <a:bodyPr wrap="square" lIns="0" tIns="0" rIns="0" bIns="0" rtlCol="0" anchor="t"/>
          <a:lstStyle/>
          <a:p>
            <a:pPr algn="l" indent="0" marL="0">
              <a:buNone/>
            </a:pPr>
            <a:r>
              <a:rPr lang="en-US" sz="1500" dirty="0">
                <a:solidFill>
                  <a:srgbClr val="DCE7EC"/>
                </a:solidFill>
                <a:latin typeface="Calibri" pitchFamily="34" charset="0"/>
                <a:ea typeface="Calibri" pitchFamily="34" charset="-122"/>
                <a:cs typeface="Calibri" pitchFamily="34" charset="-120"/>
              </a:rPr>
              <a:t>Pick a job you know well and write its job description and job specification (3–5 items each)</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Job Analysis</dc:title>
  <dc:subject>PptxGenJS Presentation</dc:subject>
  <dc:creator>Lecture PPT Workflow</dc:creator>
  <cp:lastModifiedBy>Lecture PPT Workflow</cp:lastModifiedBy>
  <cp:revision>1</cp:revision>
  <dcterms:created xsi:type="dcterms:W3CDTF">2026-10-07T08:39:09Z</dcterms:created>
  <dcterms:modified xsi:type="dcterms:W3CDTF">2026-10-07T08:39:09Z</dcterms:modified>
</cp:coreProperties>
</file>