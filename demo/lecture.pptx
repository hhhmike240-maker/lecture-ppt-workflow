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开场约1分钟。先问学生：招聘时用人部门说“要一个能干的人”，HR 应该如何把“能干”说清楚？由此引出工作分析。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说明本节课的五个部分，约用时 2 课时中的第 1 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过渡：先弄清楚工作分析“分析的是什么”。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强调三个关键词：系统收集、岗位、任职要求。易错点：学生常把工作分析理解为“评价员工表现”，要说明它分析的是岗位，与绩效考核不同。可举学校“辅导员”岗位为例，请学生说出该岗位的两三项职责。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逐项说明“没有工作分析会怎样”：招聘标准模糊、培训针对性差、考核争议多、薪酬难以服众。过渡到下一部分：工作分析具体怎么做。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过渡：工作分析是一个有步骤的过程。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按四个阶段讲解，约3分钟。提醒：目的决定方法——为招聘做的分析侧重任职资格，为薪酬做的分析侧重岗位价值。完成阶段不是终点，岗位变化后要更新说明书，这一点与后面的情境讨论呼应。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过渡：调查阶段用什么方法收集信息？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横向比较四种方法，约4分钟。提问：如果要分析“流水线装配工”和“软件工程师”两个岗位，分别首选什么方法？引导学生说出观察法适合前者、访谈与问卷更适合后者。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过渡：工作分析的成果，最终写成工作说明书。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左右对照讲解。易错点：学生容易把“沟通能力强”写进工作职责，应说明它属于任职资格。可让学生判断“负责月度报表”与“熟练使用 Excel”分别属于哪一部分。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建议5分钟。先请学生读材料，小组讨论2分钟。可能回答：“员工应该按说明书做事”——追问：岗位职责变了，谁应该更新说明书？点击后显示参考分析，强调工作分析需要动态维护。
【点击顺序】第1次点击：显示参考分析。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每题先让学生回答，再点击显示答案。第2题可追问：还可以补充哪种方法？（工作日志法）
【点击顺序】第1次点击：显示第1题答案；第2次点击：显示第2题答案。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用1分钟带学生沿四个分支回顾。请学生补充：每种方法最适合哪类岗位？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布置作业，下次课抽取两份点评。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r"/>
          <p:cNvSpPr/>
          <p:nvPr/>
        </p:nvSpPr>
        <p:spPr>
          <a:xfrm>
            <a:off x="0" y="0"/>
            <a:ext cx="171450" cy="5143500"/>
          </a:xfrm>
          <a:prstGeom prst="rect">
            <a:avLst/>
          </a:prstGeom>
          <a:solidFill>
            <a:srgbClr val="2F5D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876300" y="1653540"/>
            <a:ext cx="7810500" cy="502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工作分析</a:t>
            </a:r>
            <a:endParaRPr lang="en-US" sz="3000" dirty="0"/>
          </a:p>
        </p:txBody>
      </p:sp>
      <p:sp>
        <p:nvSpPr>
          <p:cNvPr id="4" name="title-accent"/>
          <p:cNvSpPr/>
          <p:nvPr/>
        </p:nvSpPr>
        <p:spPr>
          <a:xfrm>
            <a:off x="876300" y="2327910"/>
            <a:ext cx="914400" cy="38100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ubtitle"/>
          <p:cNvSpPr/>
          <p:nvPr/>
        </p:nvSpPr>
        <p:spPr>
          <a:xfrm>
            <a:off x="876300" y="2537460"/>
            <a:ext cx="7810500" cy="301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人力资源管理 · 示例课件</a:t>
            </a:r>
            <a:endParaRPr lang="en-US" sz="1800" dirty="0"/>
          </a:p>
        </p:txBody>
      </p:sp>
      <p:sp>
        <p:nvSpPr>
          <p:cNvPr id="6" name="meta"/>
          <p:cNvSpPr/>
          <p:nvPr/>
        </p:nvSpPr>
        <p:spPr>
          <a:xfrm>
            <a:off x="876300" y="4000500"/>
            <a:ext cx="78105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lecture-ppt-workflow 生成 · 原创教学示例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item-1-number"/>
          <p:cNvSpPr/>
          <p:nvPr/>
        </p:nvSpPr>
        <p:spPr>
          <a:xfrm>
            <a:off x="647700" y="1228725"/>
            <a:ext cx="419100" cy="41910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item-1"/>
          <p:cNvSpPr/>
          <p:nvPr/>
        </p:nvSpPr>
        <p:spPr>
          <a:xfrm>
            <a:off x="1257300" y="1190625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工作分析的含义与作用</a:t>
            </a:r>
            <a:endParaRPr lang="en-US" sz="1650" dirty="0"/>
          </a:p>
        </p:txBody>
      </p:sp>
      <p:sp>
        <p:nvSpPr>
          <p:cNvPr id="6" name="item-2-number"/>
          <p:cNvSpPr/>
          <p:nvPr/>
        </p:nvSpPr>
        <p:spPr>
          <a:xfrm>
            <a:off x="647700" y="1895475"/>
            <a:ext cx="419100" cy="41910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item-2"/>
          <p:cNvSpPr/>
          <p:nvPr/>
        </p:nvSpPr>
        <p:spPr>
          <a:xfrm>
            <a:off x="1257300" y="1857375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工作分析的流程</a:t>
            </a:r>
            <a:endParaRPr lang="en-US" sz="1650" dirty="0"/>
          </a:p>
        </p:txBody>
      </p:sp>
      <p:sp>
        <p:nvSpPr>
          <p:cNvPr id="8" name="item-3-number"/>
          <p:cNvSpPr/>
          <p:nvPr/>
        </p:nvSpPr>
        <p:spPr>
          <a:xfrm>
            <a:off x="647700" y="2562225"/>
            <a:ext cx="419100" cy="41910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item-3"/>
          <p:cNvSpPr/>
          <p:nvPr/>
        </p:nvSpPr>
        <p:spPr>
          <a:xfrm>
            <a:off x="1257300" y="2524125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工作分析的常用方法</a:t>
            </a:r>
            <a:endParaRPr lang="en-US" sz="1650" dirty="0"/>
          </a:p>
        </p:txBody>
      </p:sp>
      <p:sp>
        <p:nvSpPr>
          <p:cNvPr id="10" name="item-4-number"/>
          <p:cNvSpPr/>
          <p:nvPr/>
        </p:nvSpPr>
        <p:spPr>
          <a:xfrm>
            <a:off x="647700" y="3228975"/>
            <a:ext cx="419100" cy="41910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item-4"/>
          <p:cNvSpPr/>
          <p:nvPr/>
        </p:nvSpPr>
        <p:spPr>
          <a:xfrm>
            <a:off x="1257300" y="3190875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1650" dirty="0"/>
          </a:p>
        </p:txBody>
      </p:sp>
      <p:sp>
        <p:nvSpPr>
          <p:cNvPr id="12" name="item-5-number"/>
          <p:cNvSpPr/>
          <p:nvPr/>
        </p:nvSpPr>
        <p:spPr>
          <a:xfrm>
            <a:off x="647700" y="3895725"/>
            <a:ext cx="419100" cy="41910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item-5"/>
          <p:cNvSpPr/>
          <p:nvPr/>
        </p:nvSpPr>
        <p:spPr>
          <a:xfrm>
            <a:off x="1257300" y="3857625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情境讨论与课堂提问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5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工作分析的含义与作用</a:t>
            </a:r>
            <a:endParaRPr lang="en-US" sz="2700" dirty="0"/>
          </a:p>
        </p:txBody>
      </p:sp>
      <p:sp>
        <p:nvSpPr>
          <p:cNvPr id="4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工作分析的含义与作用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什么是工作分析</a:t>
            </a:r>
            <a:endParaRPr lang="en-US" sz="1650" dirty="0"/>
          </a:p>
        </p:txBody>
      </p:sp>
      <p:sp>
        <p:nvSpPr>
          <p:cNvPr id="5" name="definition-card"/>
          <p:cNvSpPr/>
          <p:nvPr/>
        </p:nvSpPr>
        <p:spPr>
          <a:xfrm>
            <a:off x="457200" y="1371600"/>
            <a:ext cx="8229600" cy="1293114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6" name="definition-bar"/>
          <p:cNvSpPr/>
          <p:nvPr/>
        </p:nvSpPr>
        <p:spPr>
          <a:xfrm>
            <a:off x="457200" y="1371600"/>
            <a:ext cx="57150" cy="1293114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rm"/>
          <p:cNvSpPr/>
          <p:nvPr/>
        </p:nvSpPr>
        <p:spPr>
          <a:xfrm>
            <a:off x="704850" y="1543050"/>
            <a:ext cx="7810500" cy="301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工作分析（Job Analysis）</a:t>
            </a:r>
            <a:endParaRPr lang="en-US" sz="1800" dirty="0"/>
          </a:p>
        </p:txBody>
      </p:sp>
      <p:sp>
        <p:nvSpPr>
          <p:cNvPr id="8" name="definition"/>
          <p:cNvSpPr/>
          <p:nvPr/>
        </p:nvSpPr>
        <p:spPr>
          <a:xfrm>
            <a:off x="704850" y="1940052"/>
            <a:ext cx="7810500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通过系统地收集、整理与工作有关的信息，明确某一岗位的工作内容、职责、工作条件，以及任职者应具备的知识、技能和能力的过程。</a:t>
            </a:r>
            <a:endParaRPr lang="en-US" sz="1650" dirty="0"/>
          </a:p>
        </p:txBody>
      </p:sp>
      <p:sp>
        <p:nvSpPr>
          <p:cNvPr id="9" name="card-1"/>
          <p:cNvSpPr/>
          <p:nvPr/>
        </p:nvSpPr>
        <p:spPr>
          <a:xfrm>
            <a:off x="457200" y="2874264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0" name="card-1-bar"/>
          <p:cNvSpPr/>
          <p:nvPr/>
        </p:nvSpPr>
        <p:spPr>
          <a:xfrm>
            <a:off x="457200" y="2874264"/>
            <a:ext cx="2616232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card-1-title"/>
          <p:cNvSpPr/>
          <p:nvPr/>
        </p:nvSpPr>
        <p:spPr>
          <a:xfrm>
            <a:off x="609600" y="3074289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500" dirty="0"/>
          </a:p>
        </p:txBody>
      </p:sp>
      <p:sp>
        <p:nvSpPr>
          <p:cNvPr id="12" name="card-1-text"/>
          <p:cNvSpPr/>
          <p:nvPr/>
        </p:nvSpPr>
        <p:spPr>
          <a:xfrm>
            <a:off x="609600" y="3401949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岗位本身，而不是某一位员工</a:t>
            </a:r>
            <a:endParaRPr lang="en-US" sz="1350" dirty="0"/>
          </a:p>
        </p:txBody>
      </p:sp>
      <p:sp>
        <p:nvSpPr>
          <p:cNvPr id="13" name="card-2"/>
          <p:cNvSpPr/>
          <p:nvPr/>
        </p:nvSpPr>
        <p:spPr>
          <a:xfrm>
            <a:off x="3263932" y="2874264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4" name="card-2-bar"/>
          <p:cNvSpPr/>
          <p:nvPr/>
        </p:nvSpPr>
        <p:spPr>
          <a:xfrm>
            <a:off x="3263932" y="2874264"/>
            <a:ext cx="2616232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card-2-title"/>
          <p:cNvSpPr/>
          <p:nvPr/>
        </p:nvSpPr>
        <p:spPr>
          <a:xfrm>
            <a:off x="3416332" y="3074289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500" dirty="0"/>
          </a:p>
        </p:txBody>
      </p:sp>
      <p:sp>
        <p:nvSpPr>
          <p:cNvPr id="16" name="card-2-text"/>
          <p:cNvSpPr/>
          <p:nvPr/>
        </p:nvSpPr>
        <p:spPr>
          <a:xfrm>
            <a:off x="3416332" y="3401949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工作描述与任职资格</a:t>
            </a:r>
            <a:endParaRPr lang="en-US" sz="1350" dirty="0"/>
          </a:p>
        </p:txBody>
      </p:sp>
      <p:sp>
        <p:nvSpPr>
          <p:cNvPr id="17" name="card-3"/>
          <p:cNvSpPr/>
          <p:nvPr/>
        </p:nvSpPr>
        <p:spPr>
          <a:xfrm>
            <a:off x="6070568" y="2874264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8" name="card-3-bar"/>
          <p:cNvSpPr/>
          <p:nvPr/>
        </p:nvSpPr>
        <p:spPr>
          <a:xfrm>
            <a:off x="6070568" y="2874264"/>
            <a:ext cx="2616232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ard-3-title"/>
          <p:cNvSpPr/>
          <p:nvPr/>
        </p:nvSpPr>
        <p:spPr>
          <a:xfrm>
            <a:off x="6222968" y="3074289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地位</a:t>
            </a:r>
            <a:endParaRPr lang="en-US" sz="1500" dirty="0"/>
          </a:p>
        </p:txBody>
      </p:sp>
      <p:sp>
        <p:nvSpPr>
          <p:cNvPr id="20" name="card-3-text"/>
          <p:cNvSpPr/>
          <p:nvPr/>
        </p:nvSpPr>
        <p:spPr>
          <a:xfrm>
            <a:off x="6222968" y="3401949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多项人力资源工作的共同基础</a:t>
            </a:r>
            <a:endParaRPr lang="en-US" sz="1350" dirty="0"/>
          </a:p>
        </p:txBody>
      </p:sp>
      <p:sp>
        <p:nvSpPr>
          <p:cNvPr id="21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工作分析的含义与作用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工作分析的作用</a:t>
            </a:r>
            <a:endParaRPr lang="en-US" sz="1650" dirty="0"/>
          </a:p>
        </p:txBody>
      </p:sp>
      <p:sp>
        <p:nvSpPr>
          <p:cNvPr id="5" name="card-1"/>
          <p:cNvSpPr/>
          <p:nvPr/>
        </p:nvSpPr>
        <p:spPr>
          <a:xfrm>
            <a:off x="457200" y="1696974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6" name="card-1-bar"/>
          <p:cNvSpPr/>
          <p:nvPr/>
        </p:nvSpPr>
        <p:spPr>
          <a:xfrm>
            <a:off x="457200" y="1696974"/>
            <a:ext cx="1914525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card-1-title"/>
          <p:cNvSpPr/>
          <p:nvPr/>
        </p:nvSpPr>
        <p:spPr>
          <a:xfrm>
            <a:off x="609600" y="1896999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招聘甄选</a:t>
            </a:r>
            <a:endParaRPr lang="en-US" sz="1575" dirty="0"/>
          </a:p>
        </p:txBody>
      </p:sp>
      <p:sp>
        <p:nvSpPr>
          <p:cNvPr id="8" name="card-1-text"/>
          <p:cNvSpPr/>
          <p:nvPr/>
        </p:nvSpPr>
        <p:spPr>
          <a:xfrm>
            <a:off x="609600" y="2237232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明确用人标准，减少凭印象招人</a:t>
            </a:r>
            <a:endParaRPr lang="en-US" sz="1425" dirty="0"/>
          </a:p>
        </p:txBody>
      </p:sp>
      <p:sp>
        <p:nvSpPr>
          <p:cNvPr id="9" name="card-2"/>
          <p:cNvSpPr/>
          <p:nvPr/>
        </p:nvSpPr>
        <p:spPr>
          <a:xfrm>
            <a:off x="2562225" y="1696974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0" name="card-2-bar"/>
          <p:cNvSpPr/>
          <p:nvPr/>
        </p:nvSpPr>
        <p:spPr>
          <a:xfrm>
            <a:off x="2562225" y="1696974"/>
            <a:ext cx="1914525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card-2-title"/>
          <p:cNvSpPr/>
          <p:nvPr/>
        </p:nvSpPr>
        <p:spPr>
          <a:xfrm>
            <a:off x="2714625" y="1896999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培训开发</a:t>
            </a:r>
            <a:endParaRPr lang="en-US" sz="1575" dirty="0"/>
          </a:p>
        </p:txBody>
      </p:sp>
      <p:sp>
        <p:nvSpPr>
          <p:cNvPr id="12" name="card-2-text"/>
          <p:cNvSpPr/>
          <p:nvPr/>
        </p:nvSpPr>
        <p:spPr>
          <a:xfrm>
            <a:off x="2714625" y="2237232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对照任职要求，识别能力差距</a:t>
            </a:r>
            <a:endParaRPr lang="en-US" sz="1425" dirty="0"/>
          </a:p>
        </p:txBody>
      </p:sp>
      <p:sp>
        <p:nvSpPr>
          <p:cNvPr id="13" name="card-3"/>
          <p:cNvSpPr/>
          <p:nvPr/>
        </p:nvSpPr>
        <p:spPr>
          <a:xfrm>
            <a:off x="4667250" y="1696974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4" name="card-3-bar"/>
          <p:cNvSpPr/>
          <p:nvPr/>
        </p:nvSpPr>
        <p:spPr>
          <a:xfrm>
            <a:off x="4667250" y="1696974"/>
            <a:ext cx="1914525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card-3-title"/>
          <p:cNvSpPr/>
          <p:nvPr/>
        </p:nvSpPr>
        <p:spPr>
          <a:xfrm>
            <a:off x="4819650" y="1896999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绩效管理</a:t>
            </a:r>
            <a:endParaRPr lang="en-US" sz="1575" dirty="0"/>
          </a:p>
        </p:txBody>
      </p:sp>
      <p:sp>
        <p:nvSpPr>
          <p:cNvPr id="16" name="card-3-text"/>
          <p:cNvSpPr/>
          <p:nvPr/>
        </p:nvSpPr>
        <p:spPr>
          <a:xfrm>
            <a:off x="4819650" y="2237232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职责清楚，考核才有依据</a:t>
            </a:r>
            <a:endParaRPr lang="en-US" sz="1425" dirty="0"/>
          </a:p>
        </p:txBody>
      </p:sp>
      <p:sp>
        <p:nvSpPr>
          <p:cNvPr id="17" name="card-4"/>
          <p:cNvSpPr/>
          <p:nvPr/>
        </p:nvSpPr>
        <p:spPr>
          <a:xfrm>
            <a:off x="6772275" y="1696974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8" name="card-4-bar"/>
          <p:cNvSpPr/>
          <p:nvPr/>
        </p:nvSpPr>
        <p:spPr>
          <a:xfrm>
            <a:off x="6772275" y="1696974"/>
            <a:ext cx="1914525" cy="47625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ard-4-title"/>
          <p:cNvSpPr/>
          <p:nvPr/>
        </p:nvSpPr>
        <p:spPr>
          <a:xfrm>
            <a:off x="6924675" y="1896999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薪酬设计</a:t>
            </a:r>
            <a:endParaRPr lang="en-US" sz="1575" dirty="0"/>
          </a:p>
        </p:txBody>
      </p:sp>
      <p:sp>
        <p:nvSpPr>
          <p:cNvPr id="20" name="card-4-text"/>
          <p:cNvSpPr/>
          <p:nvPr/>
        </p:nvSpPr>
        <p:spPr>
          <a:xfrm>
            <a:off x="6924675" y="2237232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为岗位价值评价提供信息</a:t>
            </a:r>
            <a:endParaRPr lang="en-US" sz="1425" dirty="0"/>
          </a:p>
        </p:txBody>
      </p:sp>
      <p:sp>
        <p:nvSpPr>
          <p:cNvPr id="21" name="emphasis"/>
          <p:cNvSpPr/>
          <p:nvPr/>
        </p:nvSpPr>
        <p:spPr>
          <a:xfrm>
            <a:off x="457200" y="3392424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emphasis-bar"/>
          <p:cNvSpPr/>
          <p:nvPr/>
        </p:nvSpPr>
        <p:spPr>
          <a:xfrm>
            <a:off x="457200" y="3392424"/>
            <a:ext cx="57150" cy="518160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emphasis-text"/>
          <p:cNvSpPr/>
          <p:nvPr/>
        </p:nvSpPr>
        <p:spPr>
          <a:xfrm>
            <a:off x="647700" y="3525774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工作分析是招聘、培训、绩效、薪酬等工作的共同起点</a:t>
            </a:r>
            <a:endParaRPr lang="en-US" sz="1500" dirty="0"/>
          </a:p>
        </p:txBody>
      </p:sp>
      <p:sp>
        <p:nvSpPr>
          <p:cNvPr id="24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5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工作分析的流程</a:t>
            </a:r>
            <a:endParaRPr lang="en-US" sz="2700" dirty="0"/>
          </a:p>
        </p:txBody>
      </p:sp>
      <p:sp>
        <p:nvSpPr>
          <p:cNvPr id="4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-1"/>
          <p:cNvSpPr/>
          <p:nvPr/>
        </p:nvSpPr>
        <p:spPr>
          <a:xfrm>
            <a:off x="2271713" y="2351818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3" name="arrow-2"/>
          <p:cNvSpPr/>
          <p:nvPr/>
        </p:nvSpPr>
        <p:spPr>
          <a:xfrm>
            <a:off x="4410075" y="2351818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4" name="arrow-3"/>
          <p:cNvSpPr/>
          <p:nvPr/>
        </p:nvSpPr>
        <p:spPr>
          <a:xfrm>
            <a:off x="6548438" y="2351818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5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工作分析的流程</a:t>
            </a:r>
            <a:endParaRPr lang="en-US" sz="2100" dirty="0"/>
          </a:p>
        </p:txBody>
      </p:sp>
      <p:sp>
        <p:nvSpPr>
          <p:cNvPr id="6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工作分析的一般流程</a:t>
            </a:r>
            <a:endParaRPr lang="en-US" sz="1650" dirty="0"/>
          </a:p>
        </p:txBody>
      </p:sp>
      <p:sp>
        <p:nvSpPr>
          <p:cNvPr id="8" name="step-1-number"/>
          <p:cNvSpPr/>
          <p:nvPr/>
        </p:nvSpPr>
        <p:spPr>
          <a:xfrm>
            <a:off x="457200" y="1818418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step-1"/>
          <p:cNvSpPr/>
          <p:nvPr/>
        </p:nvSpPr>
        <p:spPr>
          <a:xfrm>
            <a:off x="457200" y="2104168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准备阶段</a:t>
            </a:r>
            <a:endParaRPr lang="en-US" sz="1425" dirty="0"/>
          </a:p>
        </p:txBody>
      </p:sp>
      <p:sp>
        <p:nvSpPr>
          <p:cNvPr id="10" name="step-1-text"/>
          <p:cNvSpPr/>
          <p:nvPr/>
        </p:nvSpPr>
        <p:spPr>
          <a:xfrm>
            <a:off x="457200" y="2713768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明确分析目的，确定目标岗位，组建工作小组</a:t>
            </a:r>
            <a:endParaRPr lang="en-US" sz="1350" dirty="0"/>
          </a:p>
        </p:txBody>
      </p:sp>
      <p:sp>
        <p:nvSpPr>
          <p:cNvPr id="11" name="step-2-number"/>
          <p:cNvSpPr/>
          <p:nvPr/>
        </p:nvSpPr>
        <p:spPr>
          <a:xfrm>
            <a:off x="2595563" y="1818418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step-2"/>
          <p:cNvSpPr/>
          <p:nvPr/>
        </p:nvSpPr>
        <p:spPr>
          <a:xfrm>
            <a:off x="2595563" y="2104168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调查阶段</a:t>
            </a:r>
            <a:endParaRPr lang="en-US" sz="1425" dirty="0"/>
          </a:p>
        </p:txBody>
      </p:sp>
      <p:sp>
        <p:nvSpPr>
          <p:cNvPr id="13" name="step-2-text"/>
          <p:cNvSpPr/>
          <p:nvPr/>
        </p:nvSpPr>
        <p:spPr>
          <a:xfrm>
            <a:off x="2595563" y="2713768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选择方法，收集岗位职责、任务与条件等信息</a:t>
            </a:r>
            <a:endParaRPr lang="en-US" sz="1350" dirty="0"/>
          </a:p>
        </p:txBody>
      </p:sp>
      <p:sp>
        <p:nvSpPr>
          <p:cNvPr id="14" name="step-3-number"/>
          <p:cNvSpPr/>
          <p:nvPr/>
        </p:nvSpPr>
        <p:spPr>
          <a:xfrm>
            <a:off x="4733925" y="1818418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step-3"/>
          <p:cNvSpPr/>
          <p:nvPr/>
        </p:nvSpPr>
        <p:spPr>
          <a:xfrm>
            <a:off x="4733925" y="2104168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分析阶段</a:t>
            </a:r>
            <a:endParaRPr lang="en-US" sz="1425" dirty="0"/>
          </a:p>
        </p:txBody>
      </p:sp>
      <p:sp>
        <p:nvSpPr>
          <p:cNvPr id="16" name="step-3-text"/>
          <p:cNvSpPr/>
          <p:nvPr/>
        </p:nvSpPr>
        <p:spPr>
          <a:xfrm>
            <a:off x="4733925" y="2713768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整理、核实信息，归纳岗位要素与任职要求</a:t>
            </a:r>
            <a:endParaRPr lang="en-US" sz="1350" dirty="0"/>
          </a:p>
        </p:txBody>
      </p:sp>
      <p:sp>
        <p:nvSpPr>
          <p:cNvPr id="17" name="step-4-number"/>
          <p:cNvSpPr/>
          <p:nvPr/>
        </p:nvSpPr>
        <p:spPr>
          <a:xfrm>
            <a:off x="6872288" y="1818418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step-4"/>
          <p:cNvSpPr/>
          <p:nvPr/>
        </p:nvSpPr>
        <p:spPr>
          <a:xfrm>
            <a:off x="6872288" y="2104168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完成阶段</a:t>
            </a:r>
            <a:endParaRPr lang="en-US" sz="1425" dirty="0"/>
          </a:p>
        </p:txBody>
      </p:sp>
      <p:sp>
        <p:nvSpPr>
          <p:cNvPr id="19" name="step-4-text"/>
          <p:cNvSpPr/>
          <p:nvPr/>
        </p:nvSpPr>
        <p:spPr>
          <a:xfrm>
            <a:off x="6872288" y="2713768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编写工作说明书，并在应用中定期修订</a:t>
            </a:r>
            <a:endParaRPr lang="en-US" sz="1350" dirty="0"/>
          </a:p>
        </p:txBody>
      </p:sp>
      <p:sp>
        <p:nvSpPr>
          <p:cNvPr id="20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5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工作分析的常用方法</a:t>
            </a:r>
            <a:endParaRPr lang="en-US" sz="2700" dirty="0"/>
          </a:p>
        </p:txBody>
      </p:sp>
      <p:sp>
        <p:nvSpPr>
          <p:cNvPr id="4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工作分析的常用方法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四种常用方法比较</a:t>
            </a:r>
            <a:endParaRPr lang="en-US" sz="165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703070"/>
        </p:xfrm>
        <a:graphic>
          <a:graphicData uri="http://schemas.openxmlformats.org/drawingml/2006/table">
            <a:tbl>
              <a:tblPr/>
              <a:tblGrid>
                <a:gridCol w="1107752"/>
                <a:gridCol w="2373949"/>
                <a:gridCol w="1978291"/>
                <a:gridCol w="2769608"/>
              </a:tblGrid>
              <a:tr h="3406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直接观察任职者的工作过程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信息直观、真实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不适合以脑力劳动为主的岗位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与任职者及其主管面谈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能深入了解职责与难点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耗时，易受访谈者主观影响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问卷法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发放结构化问卷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覆盖面广，便于统计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问卷设计要求高，回答可能失真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工作日志法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任职者按时间记录工作活动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信息详细、连续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增加任职者负担，可能遗漏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208020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note-bar"/>
          <p:cNvSpPr/>
          <p:nvPr/>
        </p:nvSpPr>
        <p:spPr>
          <a:xfrm>
            <a:off x="457200" y="3208020"/>
            <a:ext cx="57150" cy="518160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note-text"/>
          <p:cNvSpPr/>
          <p:nvPr/>
        </p:nvSpPr>
        <p:spPr>
          <a:xfrm>
            <a:off x="647700" y="3341370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实际操作中通常组合使用多种方法，互相印证</a:t>
            </a:r>
            <a:endParaRPr lang="en-US" sz="1500" dirty="0"/>
          </a:p>
        </p:txBody>
      </p:sp>
      <p:sp>
        <p:nvSpPr>
          <p:cNvPr id="9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5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2700" dirty="0"/>
          </a:p>
        </p:txBody>
      </p:sp>
      <p:sp>
        <p:nvSpPr>
          <p:cNvPr id="4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工作说明书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工作说明书的两部分</a:t>
            </a:r>
            <a:endParaRPr lang="en-US" sz="1650" dirty="0"/>
          </a:p>
        </p:txBody>
      </p:sp>
      <p:sp>
        <p:nvSpPr>
          <p:cNvPr id="5" name="column-1"/>
          <p:cNvSpPr/>
          <p:nvPr/>
        </p:nvSpPr>
        <p:spPr>
          <a:xfrm>
            <a:off x="457200" y="1371600"/>
            <a:ext cx="40100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6" name="column-1-title"/>
          <p:cNvSpPr/>
          <p:nvPr/>
        </p:nvSpPr>
        <p:spPr>
          <a:xfrm>
            <a:off x="457200" y="1371600"/>
            <a:ext cx="4010025" cy="438150"/>
          </a:xfrm>
          <a:prstGeom prst="rect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工作描述：这是什么工作</a:t>
            </a:r>
            <a:endParaRPr lang="en-US" sz="1575" dirty="0"/>
          </a:p>
        </p:txBody>
      </p:sp>
      <p:sp>
        <p:nvSpPr>
          <p:cNvPr id="7" name="column-1-points"/>
          <p:cNvSpPr/>
          <p:nvPr/>
        </p:nvSpPr>
        <p:spPr>
          <a:xfrm>
            <a:off x="609600" y="1962150"/>
            <a:ext cx="3705225" cy="1352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岗位名称与所属部门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工作职责与主要任务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工作条件与环境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汇报与协作关系</a:t>
            </a:r>
            <a:endParaRPr lang="en-US" sz="1425" dirty="0"/>
          </a:p>
        </p:txBody>
      </p:sp>
      <p:sp>
        <p:nvSpPr>
          <p:cNvPr id="8" name="column-2"/>
          <p:cNvSpPr/>
          <p:nvPr/>
        </p:nvSpPr>
        <p:spPr>
          <a:xfrm>
            <a:off x="4676775" y="1371600"/>
            <a:ext cx="40100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9" name="column-2-title"/>
          <p:cNvSpPr/>
          <p:nvPr/>
        </p:nvSpPr>
        <p:spPr>
          <a:xfrm>
            <a:off x="4676775" y="1371600"/>
            <a:ext cx="4010025" cy="438150"/>
          </a:xfrm>
          <a:prstGeom prst="rect">
            <a:avLst/>
          </a:prstGeom>
          <a:solidFill>
            <a:srgbClr val="167A8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任职资格：什么样的人能做好</a:t>
            </a:r>
            <a:endParaRPr lang="en-US" sz="1575" dirty="0"/>
          </a:p>
        </p:txBody>
      </p:sp>
      <p:sp>
        <p:nvSpPr>
          <p:cNvPr id="10" name="column-2-points"/>
          <p:cNvSpPr/>
          <p:nvPr/>
        </p:nvSpPr>
        <p:spPr>
          <a:xfrm>
            <a:off x="4829175" y="1962150"/>
            <a:ext cx="3705225" cy="1352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学历与专业背景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知识与技能要求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相关工作经验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能力与个性特征</a:t>
            </a:r>
            <a:endParaRPr lang="en-US" sz="1425" dirty="0"/>
          </a:p>
        </p:txBody>
      </p:sp>
      <p:sp>
        <p:nvSpPr>
          <p:cNvPr id="11" name="conclusion"/>
          <p:cNvSpPr/>
          <p:nvPr/>
        </p:nvSpPr>
        <p:spPr>
          <a:xfrm>
            <a:off x="457200" y="3996690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conclusion-bar"/>
          <p:cNvSpPr/>
          <p:nvPr/>
        </p:nvSpPr>
        <p:spPr>
          <a:xfrm>
            <a:off x="457200" y="3996690"/>
            <a:ext cx="57150" cy="518160"/>
          </a:xfrm>
          <a:prstGeom prst="rect">
            <a:avLst/>
          </a:prstGeom>
          <a:solidFill>
            <a:srgbClr val="167A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conclusion-text"/>
          <p:cNvSpPr/>
          <p:nvPr/>
        </p:nvSpPr>
        <p:spPr>
          <a:xfrm>
            <a:off x="647700" y="4130040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工作描述针对“事”，任职资格针对“人”</a:t>
            </a:r>
            <a:endParaRPr lang="en-US" sz="1500" dirty="0"/>
          </a:p>
        </p:txBody>
      </p:sp>
      <p:sp>
        <p:nvSpPr>
          <p:cNvPr id="14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情境讨论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岗位说明书为什么“失灵”了</a:t>
            </a:r>
            <a:endParaRPr lang="en-US" sz="1650" dirty="0"/>
          </a:p>
        </p:txBody>
      </p:sp>
      <p:sp>
        <p:nvSpPr>
          <p:cNvPr id="5" name="material-card"/>
          <p:cNvSpPr/>
          <p:nvPr/>
        </p:nvSpPr>
        <p:spPr>
          <a:xfrm>
            <a:off x="457200" y="1352550"/>
            <a:ext cx="8229600" cy="132588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material-bar"/>
          <p:cNvSpPr/>
          <p:nvPr/>
        </p:nvSpPr>
        <p:spPr>
          <a:xfrm>
            <a:off x="457200" y="1352550"/>
            <a:ext cx="57150" cy="1325880"/>
          </a:xfrm>
          <a:prstGeom prst="rect">
            <a:avLst/>
          </a:prstGeom>
          <a:solidFill>
            <a:srgbClr val="B565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material-label"/>
          <p:cNvSpPr/>
          <p:nvPr/>
        </p:nvSpPr>
        <p:spPr>
          <a:xfrm>
            <a:off x="666750" y="1504950"/>
            <a:ext cx="786765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情境材料</a:t>
            </a:r>
            <a:endParaRPr lang="en-US" sz="1200" dirty="0"/>
          </a:p>
        </p:txBody>
      </p:sp>
      <p:sp>
        <p:nvSpPr>
          <p:cNvPr id="8" name="material"/>
          <p:cNvSpPr/>
          <p:nvPr/>
        </p:nvSpPr>
        <p:spPr>
          <a:xfrm>
            <a:off x="666750" y="1771650"/>
            <a:ext cx="7867650" cy="7543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某公司销售部的岗位说明书已三年未更新。新入职的客户经理发现，自己一半时间在做数据分析和客户回访，而说明书只写了“开拓市场、完成销售指标”。主管按说明书考核，双方对绩效评价产生了分歧。</a:t>
            </a:r>
            <a:endParaRPr lang="en-US" sz="1500" dirty="0"/>
          </a:p>
        </p:txBody>
      </p:sp>
      <p:sp>
        <p:nvSpPr>
          <p:cNvPr id="9" name="questions-label"/>
          <p:cNvSpPr/>
          <p:nvPr/>
        </p:nvSpPr>
        <p:spPr>
          <a:xfrm>
            <a:off x="457200" y="2849880"/>
            <a:ext cx="4000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500" dirty="0"/>
          </a:p>
        </p:txBody>
      </p:sp>
      <p:sp>
        <p:nvSpPr>
          <p:cNvPr id="10" name="questions"/>
          <p:cNvSpPr/>
          <p:nvPr/>
        </p:nvSpPr>
        <p:spPr>
          <a:xfrm>
            <a:off x="457200" y="3173730"/>
            <a:ext cx="4000500" cy="6172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这份岗位说明书出了什么问题？</a:t>
            </a:r>
            <a:endParaRPr lang="en-US" sz="1500" dirty="0"/>
          </a:p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公司应如何改进工作分析？</a:t>
            </a:r>
            <a:endParaRPr lang="en-US" sz="1500" dirty="0"/>
          </a:p>
        </p:txBody>
      </p:sp>
      <p:sp>
        <p:nvSpPr>
          <p:cNvPr id="11" name="reveal_1_1_analysis"/>
          <p:cNvSpPr/>
          <p:nvPr/>
        </p:nvSpPr>
        <p:spPr>
          <a:xfrm>
            <a:off x="4686300" y="2849880"/>
            <a:ext cx="4000500" cy="1664970"/>
          </a:xfrm>
          <a:prstGeom prst="roundRect">
            <a:avLst>
              <a:gd name="adj" fmla="val 2197"/>
            </a:avLst>
          </a:prstGeom>
          <a:solidFill>
            <a:srgbClr val="FFFFFF"/>
          </a:solidFill>
          <a:ln w="11906">
            <a:solidFill>
              <a:srgbClr val="167A85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参考分析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说明书与实际工作脱节，没有反映职责变化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考核依据不完整，引发绩效争议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定期复核岗位，结合访谈和工作日志更新说明书</a:t>
            </a:r>
            <a:endParaRPr lang="en-US" sz="1425" dirty="0"/>
          </a:p>
        </p:txBody>
      </p:sp>
      <p:sp>
        <p:nvSpPr>
          <p:cNvPr id="12" name="source"/>
          <p:cNvSpPr/>
          <p:nvPr/>
        </p:nvSpPr>
        <p:spPr>
          <a:xfrm>
            <a:off x="457200" y="4610100"/>
            <a:ext cx="75628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教学情境（虚构）</a:t>
            </a:r>
            <a:endParaRPr lang="en-US" sz="1050" dirty="0"/>
          </a:p>
        </p:txBody>
      </p:sp>
      <p:sp>
        <p:nvSpPr>
          <p:cNvPr id="13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</a:t>
            </a:r>
            <a:endParaRPr lang="en-US" sz="2100" dirty="0"/>
          </a:p>
        </p:txBody>
      </p:sp>
      <p:sp>
        <p:nvSpPr>
          <p:cNvPr id="3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检验一下</a:t>
            </a:r>
            <a:endParaRPr lang="en-US" sz="1650" dirty="0"/>
          </a:p>
        </p:txBody>
      </p:sp>
      <p:sp>
        <p:nvSpPr>
          <p:cNvPr id="5" name="question-1-card"/>
          <p:cNvSpPr/>
          <p:nvPr/>
        </p:nvSpPr>
        <p:spPr>
          <a:xfrm>
            <a:off x="457200" y="1676400"/>
            <a:ext cx="8229600" cy="90297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6" name="question-1-number"/>
          <p:cNvSpPr/>
          <p:nvPr/>
        </p:nvSpPr>
        <p:spPr>
          <a:xfrm>
            <a:off x="609600" y="1800225"/>
            <a:ext cx="361950" cy="36195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question-1"/>
          <p:cNvSpPr/>
          <p:nvPr/>
        </p:nvSpPr>
        <p:spPr>
          <a:xfrm>
            <a:off x="1143000" y="1828800"/>
            <a:ext cx="7391400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工作分析的对象是“岗位”还是“员工”？</a:t>
            </a:r>
            <a:endParaRPr lang="en-US" sz="1575" dirty="0"/>
          </a:p>
        </p:txBody>
      </p:sp>
      <p:sp>
        <p:nvSpPr>
          <p:cNvPr id="8" name="reveal_1_1_answer"/>
          <p:cNvSpPr/>
          <p:nvPr/>
        </p:nvSpPr>
        <p:spPr>
          <a:xfrm>
            <a:off x="1143000" y="2188083"/>
            <a:ext cx="7391400" cy="238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答案：岗位。工作分析关注岗位的职责与要求，不是评价某位员工。</a:t>
            </a:r>
            <a:endParaRPr lang="en-US" sz="1425" dirty="0"/>
          </a:p>
        </p:txBody>
      </p:sp>
      <p:sp>
        <p:nvSpPr>
          <p:cNvPr id="9" name="question-2-card"/>
          <p:cNvSpPr/>
          <p:nvPr/>
        </p:nvSpPr>
        <p:spPr>
          <a:xfrm>
            <a:off x="457200" y="2884170"/>
            <a:ext cx="8229600" cy="90297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0" name="question-2-number"/>
          <p:cNvSpPr/>
          <p:nvPr/>
        </p:nvSpPr>
        <p:spPr>
          <a:xfrm>
            <a:off x="609600" y="3007995"/>
            <a:ext cx="361950" cy="361950"/>
          </a:xfrm>
          <a:prstGeom prst="ellipse">
            <a:avLst/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question-2"/>
          <p:cNvSpPr/>
          <p:nvPr/>
        </p:nvSpPr>
        <p:spPr>
          <a:xfrm>
            <a:off x="1143000" y="3036570"/>
            <a:ext cx="7391400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分析研发工程师岗位，只用观察法够吗？</a:t>
            </a:r>
            <a:endParaRPr lang="en-US" sz="1575" dirty="0"/>
          </a:p>
        </p:txBody>
      </p:sp>
      <p:sp>
        <p:nvSpPr>
          <p:cNvPr id="12" name="reveal_2_1_answer"/>
          <p:cNvSpPr/>
          <p:nvPr/>
        </p:nvSpPr>
        <p:spPr>
          <a:xfrm>
            <a:off x="1143000" y="3395853"/>
            <a:ext cx="7391400" cy="238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答案：不够。研发以脑力劳动为主，过程难以观察，应结合访谈法、问卷法。</a:t>
            </a:r>
            <a:endParaRPr lang="en-US" sz="1425" dirty="0"/>
          </a:p>
        </p:txBody>
      </p:sp>
      <p:sp>
        <p:nvSpPr>
          <p:cNvPr id="13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-1"/>
          <p:cNvSpPr/>
          <p:nvPr/>
        </p:nvSpPr>
        <p:spPr>
          <a:xfrm flipV="1">
            <a:off x="2324100" y="1764506"/>
            <a:ext cx="609600" cy="1178719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3" name="leaf-1"/>
          <p:cNvSpPr/>
          <p:nvPr/>
        </p:nvSpPr>
        <p:spPr>
          <a:xfrm>
            <a:off x="4686300" y="1764506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4" name="link-2"/>
          <p:cNvSpPr/>
          <p:nvPr/>
        </p:nvSpPr>
        <p:spPr>
          <a:xfrm flipV="1">
            <a:off x="2324100" y="2550319"/>
            <a:ext cx="609600" cy="392906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5" name="leaf-2"/>
          <p:cNvSpPr/>
          <p:nvPr/>
        </p:nvSpPr>
        <p:spPr>
          <a:xfrm>
            <a:off x="4686300" y="2550319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6" name="link-3"/>
          <p:cNvSpPr/>
          <p:nvPr/>
        </p:nvSpPr>
        <p:spPr>
          <a:xfrm>
            <a:off x="2324100" y="2943225"/>
            <a:ext cx="609600" cy="392906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7" name="leaf-3"/>
          <p:cNvSpPr/>
          <p:nvPr/>
        </p:nvSpPr>
        <p:spPr>
          <a:xfrm>
            <a:off x="4686300" y="3336131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8" name="link-4"/>
          <p:cNvSpPr/>
          <p:nvPr/>
        </p:nvSpPr>
        <p:spPr>
          <a:xfrm>
            <a:off x="2324100" y="2943225"/>
            <a:ext cx="609600" cy="1178719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9" name="leaf-4"/>
          <p:cNvSpPr/>
          <p:nvPr/>
        </p:nvSpPr>
        <p:spPr>
          <a:xfrm>
            <a:off x="4686300" y="4121944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0" name="heading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</a:t>
            </a:r>
            <a:endParaRPr lang="en-US" sz="2100" dirty="0"/>
          </a:p>
        </p:txBody>
      </p:sp>
      <p:sp>
        <p:nvSpPr>
          <p:cNvPr id="11" name="title-rule"/>
          <p:cNvSpPr/>
          <p:nvPr/>
        </p:nvSpPr>
        <p:spPr>
          <a:xfrm>
            <a:off x="457200" y="685800"/>
            <a:ext cx="8229600" cy="14288"/>
          </a:xfrm>
          <a:prstGeom prst="rect">
            <a:avLst/>
          </a:prstGeom>
          <a:solidFill>
            <a:srgbClr val="A3B1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opic"/>
          <p:cNvSpPr/>
          <p:nvPr/>
        </p:nvSpPr>
        <p:spPr>
          <a:xfrm>
            <a:off x="457200" y="800100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本章知识结构</a:t>
            </a:r>
            <a:endParaRPr lang="en-US" sz="1650" dirty="0"/>
          </a:p>
        </p:txBody>
      </p:sp>
      <p:sp>
        <p:nvSpPr>
          <p:cNvPr id="13" name="root"/>
          <p:cNvSpPr/>
          <p:nvPr/>
        </p:nvSpPr>
        <p:spPr>
          <a:xfrm>
            <a:off x="457200" y="2600325"/>
            <a:ext cx="1866900" cy="685800"/>
          </a:xfrm>
          <a:prstGeom prst="roundRect">
            <a:avLst>
              <a:gd name="adj" fmla="val 10667"/>
            </a:avLst>
          </a:prstGeom>
          <a:solidFill>
            <a:srgbClr val="2F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</a:t>
            </a:r>
            <a:endParaRPr lang="en-US" sz="1650" dirty="0"/>
          </a:p>
        </p:txBody>
      </p:sp>
      <p:sp>
        <p:nvSpPr>
          <p:cNvPr id="14" name="branch-1"/>
          <p:cNvSpPr/>
          <p:nvPr/>
        </p:nvSpPr>
        <p:spPr>
          <a:xfrm>
            <a:off x="2933700" y="1545431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167A8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500" dirty="0"/>
          </a:p>
        </p:txBody>
      </p:sp>
      <p:sp>
        <p:nvSpPr>
          <p:cNvPr id="15" name="branch-1-items"/>
          <p:cNvSpPr/>
          <p:nvPr/>
        </p:nvSpPr>
        <p:spPr>
          <a:xfrm>
            <a:off x="5124450" y="1651349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对象是岗位；产出工作说明书</a:t>
            </a:r>
            <a:endParaRPr lang="en-US" sz="1350" dirty="0"/>
          </a:p>
        </p:txBody>
      </p:sp>
      <p:sp>
        <p:nvSpPr>
          <p:cNvPr id="16" name="branch-2"/>
          <p:cNvSpPr/>
          <p:nvPr/>
        </p:nvSpPr>
        <p:spPr>
          <a:xfrm>
            <a:off x="2933700" y="2331244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167A8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500" dirty="0"/>
          </a:p>
        </p:txBody>
      </p:sp>
      <p:sp>
        <p:nvSpPr>
          <p:cNvPr id="17" name="branch-2-items"/>
          <p:cNvSpPr/>
          <p:nvPr/>
        </p:nvSpPr>
        <p:spPr>
          <a:xfrm>
            <a:off x="5124450" y="2437162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准备；调查；分析；完成</a:t>
            </a:r>
            <a:endParaRPr lang="en-US" sz="1350" dirty="0"/>
          </a:p>
        </p:txBody>
      </p:sp>
      <p:sp>
        <p:nvSpPr>
          <p:cNvPr id="18" name="branch-3"/>
          <p:cNvSpPr/>
          <p:nvPr/>
        </p:nvSpPr>
        <p:spPr>
          <a:xfrm>
            <a:off x="2933700" y="3117056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167A8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500" dirty="0"/>
          </a:p>
        </p:txBody>
      </p:sp>
      <p:sp>
        <p:nvSpPr>
          <p:cNvPr id="19" name="branch-3-items"/>
          <p:cNvSpPr/>
          <p:nvPr/>
        </p:nvSpPr>
        <p:spPr>
          <a:xfrm>
            <a:off x="5124450" y="3222974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观察法；访谈法；问卷法；工作日志法</a:t>
            </a:r>
            <a:endParaRPr lang="en-US" sz="1350" dirty="0"/>
          </a:p>
        </p:txBody>
      </p:sp>
      <p:sp>
        <p:nvSpPr>
          <p:cNvPr id="20" name="branch-4"/>
          <p:cNvSpPr/>
          <p:nvPr/>
        </p:nvSpPr>
        <p:spPr>
          <a:xfrm>
            <a:off x="2933700" y="3902869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167A8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1500" dirty="0"/>
          </a:p>
        </p:txBody>
      </p:sp>
      <p:sp>
        <p:nvSpPr>
          <p:cNvPr id="21" name="branch-4-items"/>
          <p:cNvSpPr/>
          <p:nvPr/>
        </p:nvSpPr>
        <p:spPr>
          <a:xfrm>
            <a:off x="5124450" y="4008787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工作描述（事）；任职资格（人）</a:t>
            </a:r>
            <a:endParaRPr lang="en-US" sz="1350" dirty="0"/>
          </a:p>
        </p:txBody>
      </p:sp>
      <p:sp>
        <p:nvSpPr>
          <p:cNvPr id="22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5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876300" y="210731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</a:t>
            </a:r>
            <a:endParaRPr lang="en-US" sz="2700" dirty="0"/>
          </a:p>
        </p:txBody>
      </p:sp>
      <p:sp>
        <p:nvSpPr>
          <p:cNvPr id="3" name="title-accent"/>
          <p:cNvSpPr/>
          <p:nvPr/>
        </p:nvSpPr>
        <p:spPr>
          <a:xfrm>
            <a:off x="876300" y="269328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ubtitle"/>
          <p:cNvSpPr/>
          <p:nvPr/>
        </p:nvSpPr>
        <p:spPr>
          <a:xfrm>
            <a:off x="876300" y="2883789"/>
            <a:ext cx="78105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选一个你熟悉的岗位，试写它的工作描述与任职资格（各 3–5 条）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工作分析</dc:title>
  <dc:subject>PptxGenJS Presentation</dc:subject>
  <dc:creator>Lecture PPT Workflow</dc:creator>
  <cp:lastModifiedBy>Lecture PPT Workflow</cp:lastModifiedBy>
  <cp:revision>1</cp:revision>
  <dcterms:created xsi:type="dcterms:W3CDTF">2026-10-07T05:06:01Z</dcterms:created>
  <dcterms:modified xsi:type="dcterms:W3CDTF">2026-10-07T05:06:01Z</dcterms:modified>
</cp:coreProperties>
</file>